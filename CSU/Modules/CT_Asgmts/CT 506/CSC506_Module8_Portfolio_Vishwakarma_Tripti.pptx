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4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8A4FEF-4F2D-0E44-B429-2F4006F242C1}" type="datetimeFigureOut">
              <a:rPr lang="en-US" smtClean="0"/>
              <a:t>1/12/25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07408-88CC-AF47-9146-A6DB52885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644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200000"/>
              </a:lnSpc>
            </a:pPr>
            <a:r>
              <a:rPr lang="en-US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In the realm of data analysis and information retrieval, efficient text searching is crucial. The Text Pattern Matcher tool leverages the Knuth-Morris-Pratt (KMP) and Rabin-Karp algorithms to fulfill this need. This paper explores the purpose of the tool, the challenges faced during its development, the skills acquired and provides a detailed analysis of the empirical data to identify time and space complexity trends. It also discusses optimizations implemented to improve algorithm performance</a:t>
            </a:r>
            <a:r>
              <a:rPr lang="en-US" dirty="0">
                <a:effectLst/>
              </a:rPr>
              <a:t> </a:t>
            </a:r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07408-88CC-AF47-9146-A6DB52885B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6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91B92-01CF-ADD3-2341-022D07303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BE273-4474-B094-0F5C-7E21FA491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B820F8-4E60-6056-B44B-287CBE139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Goals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goal of this project was to implement a </a:t>
            </a: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 Pattern Matcher</a:t>
            </a: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using either the </a:t>
            </a: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Knuth-Morris-Pratt (KMP)</a:t>
            </a: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or </a:t>
            </a: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Rabin-Karp</a:t>
            </a: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algorithm. The application needed to: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Accurately search for specific patterns in text files.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matched patterns within the text for better visualization.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Compare the efficiency of the algorithms for varying pattern lengths and input sizes.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achieving these objectives, the project aimed to provide insights into the practical applications and performance trade-offs between the KMP and Rabin-Karp algorithms, which are widely used in string matching tasks.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713A7-F6BA-2687-E439-A9F9DAF8B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07408-88CC-AF47-9146-A6DB52885B0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42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FE47C-E5F9-8F26-269E-94C1779A3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C6598-FAD6-DC49-0163-900F0C0CD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F3399-5EC7-F231-A2A9-E22C1030D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 Selection and Design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Knuth-Morris-Pratt (KMP):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algorithm preprocesses the pattern to create a "partial match" table, which helps to skip unnecessary comparisons during the search process. It is well-suited for scenarios where the pattern remains constant but the input text changes frequently.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Rabin-Karp: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approach uses a rolling hash function to compute a hash value for the pattern and substrings of the text. It is efficient for searching multiple patterns simultaneously but can result in hash collisions, requiring additional checks.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/>
            <a:br>
              <a:rPr lang="en-US" dirty="0"/>
            </a:b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 Steps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KMP: Constructed a partial match table for the pattern.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Rabin-Karp: Defined a hash function for efficient substring matching.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Pattern Search: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Developed functions to scan the input text using the respective algorithms.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Implemented collision resolution for Rabin-Karp to ensure accuracy.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Added functionality to highlight matched patterns within the text.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Designed output tables to compare performance metrics such as time complexity, memory usage, and execution time.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Performance Testing: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Conducted experiments on texts of varying lengths and patterns of different sizes.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Recorded execution times and analyzed the results to identify strengths and weaknesses of each algorithm.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C4D38-84F7-FA3F-BD4C-781D2C7F4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07408-88CC-AF47-9146-A6DB52885B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49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73A1B-10E8-3620-FD6E-8DA3D27C8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2D0471-A164-F6F7-78E3-B73629A9C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2C062D-7DE6-8994-7741-9D1F8C2E2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en-US" sz="135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project successfully met its objectives, producing the following results: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Functional Pattern Matcher: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Both KMP and Rabin-Karp implementations were able to accurately locate patterns in text files.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Visualization Features: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Matched patterns were highlighted effectively, improving user readability.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 Comparison: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KMP:</a:t>
            </a: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Demonstrated consistent performance, particularly for longer texts and repetitive patterns.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Rabin-Karp:</a:t>
            </a: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Performed well for shorter patterns but exhibited slower performance with hash collisions in longer patterns.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Execution time graphs revealed that KMP was faster for larger input sizes, while Rabin-Karp excelled in smaller datasets with minimal hash collisions.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E04A8-9ACC-9BA9-22EB-1A1F9178A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07408-88CC-AF47-9146-A6DB52885B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238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1D65E-E7DF-A0AB-2063-C2BA67024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66CF3-0ED7-DA70-90B1-F840C63F7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70247-AAAE-493B-BE1C-669BA74C5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Performance Metrics: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Execution time graphs revealed that KMP was faster for larger input sizes, while Rabin-Karp excelled in smaller datasets with minimal hash collisions.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3DF96-0B32-122B-0B8D-91BA1B149F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07408-88CC-AF47-9146-A6DB52885B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55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3BD96-F0EF-5D2E-3AA6-04BBA9AF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A9E345-602E-992D-AB1E-0752CAE66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42A0C5-2D13-D66B-94F0-FFF38DE85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en-US" sz="135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Obstacles Faced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Hash Collisions in Rabin-Karp: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Addressing false positives caused by hash collisions required additional verification steps, which impacted efficiency.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Pattern Overlap: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Implementing accurate handling of overlapping patterns was challenging, especially in scenarios where patterns repeated frequently.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Visualization Challenges: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Developing an intuitive interface for pattern highlighting required iterative design and testing.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Testing Environment: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Ensuring consistent performance metrics across various text files required setting up controlled testing conditions.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8FA25-939F-D265-24C8-44FDAE1A2D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07408-88CC-AF47-9146-A6DB52885B0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94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1609C-96AA-BB98-A798-50F01F41C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C4056-2B53-EE3B-EF4F-4E90D1100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F61CE-D96B-BB4D-458C-2AAC3210D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en-US" sz="135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Skills Acquired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 Mastery: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Gained in-depth understanding of KMP and Rabin-Karp algorithms, including their preprocessing techniques and performance trade-offs.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Efficiency Analysis: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Developed skills in analyzing algorithmic performance using metrics like time complexity and execution time.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Visualization Techniques: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Enhanced proficiency in creating graphical representations of data and implementing user-friendly highlighting features.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Problem Solving: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Overcame challenges related to hash collisions and overlapping patterns through innovative debugging and testing strategies.</a:t>
            </a:r>
            <a:endParaRPr lang="en-US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82C02-E957-B5AF-D37C-4A09D5861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07408-88CC-AF47-9146-A6DB52885B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729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Text Pattern Matcher project provided valuable insights into the practical applications of the KMP and Rabin-Karp algorithms. By overcoming challenges such as hash collisions and designing user-friendly visualizations, the project demonstrated the efficiency and versatility of both algorithms. The results and experiences gained will serve as a strong foundation for future work in text processing and algorithm optimization.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07408-88CC-AF47-9146-A6DB52885B0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72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07408-88CC-AF47-9146-A6DB52885B0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682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75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203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1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56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19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47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19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04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557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450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644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92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63" r:id="rId6"/>
    <p:sldLayoutId id="2147483758" r:id="rId7"/>
    <p:sldLayoutId id="2147483759" r:id="rId8"/>
    <p:sldLayoutId id="2147483760" r:id="rId9"/>
    <p:sldLayoutId id="2147483762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knuth-morris-pratt-kmp-algorithm-for-pattern-search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8753201B-432F-7A72-6FF6-CF0404210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A green and white triangle pattern&#10;&#10;Description automatically generated">
            <a:extLst>
              <a:ext uri="{FF2B5EF4-FFF2-40B4-BE49-F238E27FC236}">
                <a16:creationId xmlns:a16="http://schemas.microsoft.com/office/drawing/2014/main" id="{79CEBF4C-F472-6E25-1A83-8797034BA83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17883"/>
          <a:stretch/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D2AE21-6279-7428-2586-8945069DC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799" y="1143000"/>
            <a:ext cx="4394201" cy="2286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700">
                <a:solidFill>
                  <a:srgbClr val="FFFFFF"/>
                </a:solidFill>
              </a:rPr>
              <a:t>Topic- Text Pattern Matching Tool</a:t>
            </a:r>
            <a:br>
              <a:rPr lang="en-US" sz="3700">
                <a:solidFill>
                  <a:srgbClr val="FFFFFF"/>
                </a:solidFill>
              </a:rPr>
            </a:br>
            <a:endParaRPr lang="en-US" sz="37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22D2AA-F581-2743-1F1B-68B4A4CC7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1207697"/>
            <a:ext cx="4953000" cy="4507303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/>
            <a:r>
              <a:rPr lang="en-US">
                <a:solidFill>
                  <a:srgbClr val="FFFFFF"/>
                </a:solidFill>
              </a:rPr>
              <a:t>Tripti Vishwakarma 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Colorado State University Global 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Course Code CSC506 -1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Dr. Dong Nguyen 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Jan 12, 2025</a:t>
            </a:r>
          </a:p>
        </p:txBody>
      </p:sp>
    </p:spTree>
    <p:extLst>
      <p:ext uri="{BB962C8B-B14F-4D97-AF65-F5344CB8AC3E}">
        <p14:creationId xmlns:p14="http://schemas.microsoft.com/office/powerpoint/2010/main" val="2806085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B626B2-D236-ACAA-F69F-3A80CEE4E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C4F049F8-87E1-403E-2A50-2F4544BF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een and white triangle pattern&#10;&#10;Description automatically generated">
            <a:extLst>
              <a:ext uri="{FF2B5EF4-FFF2-40B4-BE49-F238E27FC236}">
                <a16:creationId xmlns:a16="http://schemas.microsoft.com/office/drawing/2014/main" id="{99AEB0B0-6A3D-0023-43C9-997141D916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883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DD29B6E1-6E86-A1A0-2491-E5B84B3AA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H="1">
            <a:off x="1035555" y="1445436"/>
            <a:ext cx="11191887" cy="5509960"/>
          </a:xfrm>
          <a:custGeom>
            <a:avLst/>
            <a:gdLst>
              <a:gd name="connsiteX0" fmla="*/ 75794 w 11191887"/>
              <a:gd name="connsiteY0" fmla="*/ 5509960 h 5509960"/>
              <a:gd name="connsiteX1" fmla="*/ 11191887 w 11191887"/>
              <a:gd name="connsiteY1" fmla="*/ 5315928 h 5509960"/>
              <a:gd name="connsiteX2" fmla="*/ 5163097 w 11191887"/>
              <a:gd name="connsiteY2" fmla="*/ 753031 h 5509960"/>
              <a:gd name="connsiteX3" fmla="*/ 5078820 w 11191887"/>
              <a:gd name="connsiteY3" fmla="*/ 692507 h 5509960"/>
              <a:gd name="connsiteX4" fmla="*/ 2926071 w 11191887"/>
              <a:gd name="connsiteY4" fmla="*/ 1150 h 5509960"/>
              <a:gd name="connsiteX5" fmla="*/ 2692814 w 11191887"/>
              <a:gd name="connsiteY5" fmla="*/ 2336 h 5509960"/>
              <a:gd name="connsiteX6" fmla="*/ 95718 w 11191887"/>
              <a:gd name="connsiteY6" fmla="*/ 1073885 h 5509960"/>
              <a:gd name="connsiteX7" fmla="*/ 0 w 11191887"/>
              <a:gd name="connsiteY7" fmla="*/ 1167726 h 5509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191887" h="5509960">
                <a:moveTo>
                  <a:pt x="75794" y="5509960"/>
                </a:moveTo>
                <a:lnTo>
                  <a:pt x="11191887" y="5315928"/>
                </a:lnTo>
                <a:lnTo>
                  <a:pt x="5163097" y="753031"/>
                </a:lnTo>
                <a:lnTo>
                  <a:pt x="5078820" y="692507"/>
                </a:lnTo>
                <a:cubicBezTo>
                  <a:pt x="4421358" y="245206"/>
                  <a:pt x="3672983" y="19009"/>
                  <a:pt x="2926071" y="1150"/>
                </a:cubicBezTo>
                <a:cubicBezTo>
                  <a:pt x="2848268" y="-711"/>
                  <a:pt x="2770480" y="-310"/>
                  <a:pt x="2692814" y="2336"/>
                </a:cubicBezTo>
                <a:cubicBezTo>
                  <a:pt x="1746244" y="34591"/>
                  <a:pt x="817542" y="400481"/>
                  <a:pt x="95718" y="1073885"/>
                </a:cubicBezTo>
                <a:lnTo>
                  <a:pt x="0" y="1167726"/>
                </a:lnTo>
                <a:close/>
              </a:path>
            </a:pathLst>
          </a:custGeom>
          <a:gradFill>
            <a:gsLst>
              <a:gs pos="23000">
                <a:schemeClr val="bg2">
                  <a:alpha val="68000"/>
                </a:schemeClr>
              </a:gs>
              <a:gs pos="100000">
                <a:schemeClr val="accent1">
                  <a:lumMod val="60000"/>
                  <a:lumOff val="40000"/>
                  <a:alpha val="78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AF4679-C733-7AE6-94D2-381772993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82446" y="3092651"/>
            <a:ext cx="5429290" cy="2142559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4800"/>
              <a:t>Project Goals</a:t>
            </a:r>
            <a:br>
              <a:rPr lang="en-US" sz="4800"/>
            </a:br>
            <a:endParaRPr lang="en-US" sz="4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FB2466-D5BA-6E5A-04FF-C6B25C01B7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29817" y="5409639"/>
            <a:ext cx="5481920" cy="908807"/>
          </a:xfrm>
        </p:spPr>
        <p:txBody>
          <a:bodyPr vert="horz" lIns="91440" tIns="45720" rIns="91440" bIns="45720" rtlCol="0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1100"/>
              <a:t>1. Implement a Text Pattern Matcher using KMP or Rabin-Karp.</a:t>
            </a:r>
          </a:p>
          <a:p>
            <a:pPr algn="r">
              <a:lnSpc>
                <a:spcPct val="110000"/>
              </a:lnSpc>
            </a:pPr>
            <a:r>
              <a:rPr lang="en-US" sz="1100"/>
              <a:t>2. Enable accurate pattern search and visualization.</a:t>
            </a:r>
          </a:p>
          <a:p>
            <a:pPr algn="r">
              <a:lnSpc>
                <a:spcPct val="110000"/>
              </a:lnSpc>
            </a:pPr>
            <a:r>
              <a:rPr lang="en-US" sz="1100"/>
              <a:t>3. Compare algorithm efficiency for varying inputs</a:t>
            </a:r>
          </a:p>
        </p:txBody>
      </p:sp>
    </p:spTree>
    <p:extLst>
      <p:ext uri="{BB962C8B-B14F-4D97-AF65-F5344CB8AC3E}">
        <p14:creationId xmlns:p14="http://schemas.microsoft.com/office/powerpoint/2010/main" val="82794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666E9-F0BE-A7DB-CCB4-8B024405B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5D31E4A-9E93-0066-1D6A-1C3B608A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D49B1E-D8D5-0B91-B10D-CC1DCCCBE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0" y="1143000"/>
            <a:ext cx="3924299" cy="161229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Methodology</a:t>
            </a:r>
            <a:br>
              <a:rPr lang="en-US" sz="3000"/>
            </a:br>
            <a:endParaRPr lang="en-US" sz="3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ECE10-A562-FBB9-BE1A-5AD5CEF33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00" y="2075609"/>
            <a:ext cx="7077073" cy="43109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200" dirty="0"/>
              <a:t>1. KMP: Preprocessing using partial match table.</a:t>
            </a:r>
          </a:p>
          <a:p>
            <a:r>
              <a:rPr lang="en-US" sz="1200" dirty="0"/>
              <a:t>2. Rabin-Karp: Rolling hash for substring matching.</a:t>
            </a:r>
          </a:p>
          <a:p>
            <a:r>
              <a:rPr lang="en-US" sz="1200" dirty="0"/>
              <a:t>3. Visualization: Highlight matches in text.</a:t>
            </a:r>
          </a:p>
          <a:p>
            <a:r>
              <a:rPr lang="en-US" sz="1200" dirty="0"/>
              <a:t>4. Performance Testing: Analyze execution times.</a:t>
            </a:r>
          </a:p>
        </p:txBody>
      </p:sp>
      <p:pic>
        <p:nvPicPr>
          <p:cNvPr id="4" name="Picture 3" descr="A green and white triangle pattern&#10;&#10;Description automatically generated">
            <a:extLst>
              <a:ext uri="{FF2B5EF4-FFF2-40B4-BE49-F238E27FC236}">
                <a16:creationId xmlns:a16="http://schemas.microsoft.com/office/drawing/2014/main" id="{6780BD05-EE3E-F7C2-144D-0F9D41E44C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059"/>
          <a:stretch/>
        </p:blipFill>
        <p:spPr>
          <a:xfrm>
            <a:off x="1" y="-2357"/>
            <a:ext cx="7872431" cy="4310904"/>
          </a:xfrm>
          <a:custGeom>
            <a:avLst/>
            <a:gdLst/>
            <a:ahLst/>
            <a:cxnLst/>
            <a:rect l="l" t="t" r="r" b="b"/>
            <a:pathLst>
              <a:path w="7872431" h="4310904">
                <a:moveTo>
                  <a:pt x="0" y="0"/>
                </a:moveTo>
                <a:lnTo>
                  <a:pt x="7872431" y="0"/>
                </a:lnTo>
                <a:lnTo>
                  <a:pt x="3042989" y="3788060"/>
                </a:lnTo>
                <a:cubicBezTo>
                  <a:pt x="2579199" y="4115583"/>
                  <a:pt x="2047750" y="4286391"/>
                  <a:pt x="1514750" y="4308448"/>
                </a:cubicBezTo>
                <a:cubicBezTo>
                  <a:pt x="1015062" y="4329127"/>
                  <a:pt x="514010" y="4219067"/>
                  <a:pt x="66064" y="3984830"/>
                </a:cubicBezTo>
                <a:lnTo>
                  <a:pt x="0" y="3947746"/>
                </a:ln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2B29E8-0B1F-F623-7A75-0CBE1F941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2795" y="3479556"/>
            <a:ext cx="4505326" cy="33784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0BDE04-A9F9-22F0-6F87-8747F86DF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0994" y="4457701"/>
            <a:ext cx="4016206" cy="124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7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781D3A-CD62-6E74-1C34-F16F6302F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1A06B62-8BB1-9677-4094-5FB84178B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0851CE-1793-D903-CD38-A4A5D79BE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0" y="187397"/>
            <a:ext cx="3924299" cy="74129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335C3C-EAAF-406A-5FD7-37BCC1F5F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0" y="771525"/>
            <a:ext cx="3924299" cy="1971675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indent="-228600">
              <a:lnSpc>
                <a:spcPct val="110000"/>
              </a:lnSpc>
            </a:pPr>
            <a:r>
              <a:rPr lang="en-US" sz="1700" dirty="0"/>
              <a:t>1. Functional pattern matcher with accurate results.</a:t>
            </a:r>
          </a:p>
          <a:p>
            <a:pPr indent="-228600">
              <a:lnSpc>
                <a:spcPct val="110000"/>
              </a:lnSpc>
            </a:pPr>
            <a:r>
              <a:rPr lang="en-US" sz="1700" dirty="0"/>
              <a:t>2. Visualization highlights matches effectively.</a:t>
            </a:r>
          </a:p>
          <a:p>
            <a:pPr indent="-228600">
              <a:lnSpc>
                <a:spcPct val="110000"/>
              </a:lnSpc>
            </a:pPr>
            <a:r>
              <a:rPr lang="en-US" sz="1700" dirty="0"/>
              <a:t>3. Algorithm Comparison:</a:t>
            </a:r>
          </a:p>
          <a:p>
            <a:pPr indent="-228600">
              <a:lnSpc>
                <a:spcPct val="110000"/>
              </a:lnSpc>
            </a:pPr>
            <a:r>
              <a:rPr lang="en-US" sz="1700" dirty="0"/>
              <a:t>   - KMP: Consistent for larger texts.</a:t>
            </a:r>
          </a:p>
          <a:p>
            <a:pPr indent="-228600">
              <a:lnSpc>
                <a:spcPct val="110000"/>
              </a:lnSpc>
            </a:pPr>
            <a:r>
              <a:rPr lang="en-US" sz="1700" dirty="0"/>
              <a:t>   - Rabin-Karp: Faster for smaller patterns.</a:t>
            </a:r>
          </a:p>
        </p:txBody>
      </p:sp>
      <p:pic>
        <p:nvPicPr>
          <p:cNvPr id="7" name="Picture 6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12B08583-D9B3-54A1-0C99-FE5F0D096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010" y="2997115"/>
            <a:ext cx="4472032" cy="37911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F37FCA-8CD9-6EFD-F653-BD743B770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0043" y="4262889"/>
            <a:ext cx="3704345" cy="1259569"/>
          </a:xfrm>
          <a:prstGeom prst="rect">
            <a:avLst/>
          </a:prstGeom>
        </p:spPr>
      </p:pic>
      <p:pic>
        <p:nvPicPr>
          <p:cNvPr id="9" name="Picture 8" descr="A green and white triangle pattern&#10;&#10;Description automatically generated">
            <a:extLst>
              <a:ext uri="{FF2B5EF4-FFF2-40B4-BE49-F238E27FC236}">
                <a16:creationId xmlns:a16="http://schemas.microsoft.com/office/drawing/2014/main" id="{ABA5E61B-F816-FAB2-8906-95C4E8868F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059"/>
          <a:stretch/>
        </p:blipFill>
        <p:spPr>
          <a:xfrm>
            <a:off x="1" y="-2357"/>
            <a:ext cx="7872431" cy="4310904"/>
          </a:xfrm>
          <a:custGeom>
            <a:avLst/>
            <a:gdLst/>
            <a:ahLst/>
            <a:cxnLst/>
            <a:rect l="l" t="t" r="r" b="b"/>
            <a:pathLst>
              <a:path w="7872431" h="4310904">
                <a:moveTo>
                  <a:pt x="0" y="0"/>
                </a:moveTo>
                <a:lnTo>
                  <a:pt x="7872431" y="0"/>
                </a:lnTo>
                <a:lnTo>
                  <a:pt x="3042989" y="3788060"/>
                </a:lnTo>
                <a:cubicBezTo>
                  <a:pt x="2579199" y="4115583"/>
                  <a:pt x="2047750" y="4286391"/>
                  <a:pt x="1514750" y="4308448"/>
                </a:cubicBezTo>
                <a:cubicBezTo>
                  <a:pt x="1015062" y="4329127"/>
                  <a:pt x="514010" y="4219067"/>
                  <a:pt x="66064" y="3984830"/>
                </a:cubicBezTo>
                <a:lnTo>
                  <a:pt x="0" y="394774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79373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DF859C-839F-CB12-5FE8-87C5F7BA8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5AE8186-2E95-AE44-7FD2-8973CDB58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kmp_vs_rabin_karp_graph.png">
            <a:extLst>
              <a:ext uri="{FF2B5EF4-FFF2-40B4-BE49-F238E27FC236}">
                <a16:creationId xmlns:a16="http://schemas.microsoft.com/office/drawing/2014/main" id="{054D7B10-1560-652C-DEBA-C74AF45E26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83" r="31450"/>
          <a:stretch/>
        </p:blipFill>
        <p:spPr>
          <a:xfrm>
            <a:off x="-8" y="1135100"/>
            <a:ext cx="5538959" cy="5722891"/>
          </a:xfrm>
          <a:prstGeom prst="rect">
            <a:avLst/>
          </a:prstGeom>
        </p:spPr>
      </p:pic>
      <p:pic>
        <p:nvPicPr>
          <p:cNvPr id="6" name="Picture 5" descr="A green and white triangle pattern&#10;&#10;Description automatically generated">
            <a:extLst>
              <a:ext uri="{FF2B5EF4-FFF2-40B4-BE49-F238E27FC236}">
                <a16:creationId xmlns:a16="http://schemas.microsoft.com/office/drawing/2014/main" id="{F5DC1C30-E472-72CC-3A25-04D6D3F5D3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912" r="25198" b="-1"/>
          <a:stretch/>
        </p:blipFill>
        <p:spPr>
          <a:xfrm>
            <a:off x="6096008" y="8"/>
            <a:ext cx="6095999" cy="6857999"/>
          </a:xfrm>
          <a:prstGeom prst="rect">
            <a:avLst/>
          </a:prstGeom>
        </p:spPr>
      </p:pic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C94E78B-14D3-4EFC-EF80-D2B8AB8BE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H="1">
            <a:off x="4223130" y="2876102"/>
            <a:ext cx="7990455" cy="4056491"/>
          </a:xfrm>
          <a:custGeom>
            <a:avLst/>
            <a:gdLst>
              <a:gd name="connsiteX0" fmla="*/ 1835855 w 7990455"/>
              <a:gd name="connsiteY0" fmla="*/ 1549 h 4056491"/>
              <a:gd name="connsiteX1" fmla="*/ 20607 w 7990455"/>
              <a:gd name="connsiteY1" fmla="*/ 803783 h 4056491"/>
              <a:gd name="connsiteX2" fmla="*/ 0 w 7990455"/>
              <a:gd name="connsiteY2" fmla="*/ 826355 h 4056491"/>
              <a:gd name="connsiteX3" fmla="*/ 56382 w 7990455"/>
              <a:gd name="connsiteY3" fmla="*/ 4056491 h 4056491"/>
              <a:gd name="connsiteX4" fmla="*/ 7990455 w 7990455"/>
              <a:gd name="connsiteY4" fmla="*/ 3918001 h 4056491"/>
              <a:gd name="connsiteX5" fmla="*/ 3473225 w 7990455"/>
              <a:gd name="connsiteY5" fmla="*/ 499129 h 4056491"/>
              <a:gd name="connsiteX6" fmla="*/ 3417363 w 7990455"/>
              <a:gd name="connsiteY6" fmla="*/ 459014 h 4056491"/>
              <a:gd name="connsiteX7" fmla="*/ 1990465 w 7990455"/>
              <a:gd name="connsiteY7" fmla="*/ 763 h 4056491"/>
              <a:gd name="connsiteX8" fmla="*/ 1835855 w 7990455"/>
              <a:gd name="connsiteY8" fmla="*/ 1549 h 4056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90455" h="4056491">
                <a:moveTo>
                  <a:pt x="1835855" y="1549"/>
                </a:moveTo>
                <a:cubicBezTo>
                  <a:pt x="1166616" y="24353"/>
                  <a:pt x="510850" y="298769"/>
                  <a:pt x="20607" y="803783"/>
                </a:cubicBezTo>
                <a:lnTo>
                  <a:pt x="0" y="826355"/>
                </a:lnTo>
                <a:lnTo>
                  <a:pt x="56382" y="4056491"/>
                </a:lnTo>
                <a:lnTo>
                  <a:pt x="7990455" y="3918001"/>
                </a:lnTo>
                <a:lnTo>
                  <a:pt x="3473225" y="499129"/>
                </a:lnTo>
                <a:lnTo>
                  <a:pt x="3417363" y="459014"/>
                </a:lnTo>
                <a:cubicBezTo>
                  <a:pt x="2981581" y="162529"/>
                  <a:pt x="2485539" y="12600"/>
                  <a:pt x="1990465" y="763"/>
                </a:cubicBezTo>
                <a:cubicBezTo>
                  <a:pt x="1938894" y="-470"/>
                  <a:pt x="1887335" y="-206"/>
                  <a:pt x="1835855" y="1549"/>
                </a:cubicBezTo>
                <a:close/>
              </a:path>
            </a:pathLst>
          </a:custGeom>
          <a:gradFill>
            <a:gsLst>
              <a:gs pos="32000">
                <a:schemeClr val="bg2">
                  <a:alpha val="80000"/>
                </a:schemeClr>
              </a:gs>
              <a:gs pos="100000">
                <a:schemeClr val="accent1">
                  <a:lumMod val="60000"/>
                  <a:lumOff val="40000"/>
                  <a:alpha val="84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BC463-2FCC-3876-2D52-87875F230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3758" y="4921135"/>
            <a:ext cx="4469322" cy="121072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100"/>
              <a:t>Performance Analysis</a:t>
            </a:r>
            <a:br>
              <a:rPr lang="en-US" sz="3100"/>
            </a:br>
            <a:endParaRPr lang="en-US" sz="31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6E07D-51BC-128C-B4EF-017D439B6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0281" y="3910253"/>
            <a:ext cx="3129921" cy="1010882"/>
          </a:xfrm>
        </p:spPr>
        <p:txBody>
          <a:bodyPr vert="horz" lIns="91440" tIns="45720" rIns="91440" bIns="45720" rtlCol="0" anchor="b">
            <a:normAutofit/>
          </a:bodyPr>
          <a:lstStyle/>
          <a:p>
            <a:pPr indent="-228600" algn="r">
              <a:lnSpc>
                <a:spcPct val="110000"/>
              </a:lnSpc>
            </a:pPr>
            <a:r>
              <a:rPr lang="en-US" sz="1100"/>
              <a:t>1. KMP excels in large input sizes.</a:t>
            </a:r>
          </a:p>
          <a:p>
            <a:pPr indent="-228600" algn="r">
              <a:lnSpc>
                <a:spcPct val="110000"/>
              </a:lnSpc>
            </a:pPr>
            <a:r>
              <a:rPr lang="en-US" sz="1100"/>
              <a:t>2. Rabin-Karp is efficient for small datasets.</a:t>
            </a:r>
          </a:p>
          <a:p>
            <a:pPr indent="-228600" algn="r">
              <a:lnSpc>
                <a:spcPct val="110000"/>
              </a:lnSpc>
            </a:pPr>
            <a:r>
              <a:rPr lang="en-US" sz="1100"/>
              <a:t>3. Graphs show execution time trends.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4F6CECC-942B-F1A2-3CA5-7D94BC8EF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4291463" cy="1828798"/>
          </a:xfrm>
          <a:custGeom>
            <a:avLst/>
            <a:gdLst>
              <a:gd name="connsiteX0" fmla="*/ 4291463 w 4291463"/>
              <a:gd name="connsiteY0" fmla="*/ 1828798 h 1828798"/>
              <a:gd name="connsiteX1" fmla="*/ 0 w 4291463"/>
              <a:gd name="connsiteY1" fmla="*/ 1828798 h 1828798"/>
              <a:gd name="connsiteX2" fmla="*/ 1813870 w 4291463"/>
              <a:gd name="connsiteY2" fmla="*/ 405504 h 1828798"/>
              <a:gd name="connsiteX3" fmla="*/ 1856352 w 4291463"/>
              <a:gd name="connsiteY3" fmla="*/ 373857 h 1828798"/>
              <a:gd name="connsiteX4" fmla="*/ 2949111 w 4291463"/>
              <a:gd name="connsiteY4" fmla="*/ 1756 h 1828798"/>
              <a:gd name="connsiteX5" fmla="*/ 3068193 w 4291463"/>
              <a:gd name="connsiteY5" fmla="*/ 284 h 1828798"/>
              <a:gd name="connsiteX6" fmla="*/ 4291186 w 4291463"/>
              <a:gd name="connsiteY6" fmla="*/ 430072 h 1828798"/>
              <a:gd name="connsiteX7" fmla="*/ 4291463 w 4291463"/>
              <a:gd name="connsiteY7" fmla="*/ 430316 h 1828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1463" h="1828798">
                <a:moveTo>
                  <a:pt x="4291463" y="1828798"/>
                </a:moveTo>
                <a:lnTo>
                  <a:pt x="0" y="1828798"/>
                </a:lnTo>
                <a:lnTo>
                  <a:pt x="1813870" y="405504"/>
                </a:lnTo>
                <a:lnTo>
                  <a:pt x="1856352" y="373857"/>
                </a:lnTo>
                <a:cubicBezTo>
                  <a:pt x="2187982" y="139664"/>
                  <a:pt x="2567993" y="17528"/>
                  <a:pt x="2949111" y="1756"/>
                </a:cubicBezTo>
                <a:cubicBezTo>
                  <a:pt x="2988812" y="114"/>
                  <a:pt x="3028523" y="-375"/>
                  <a:pt x="3068193" y="284"/>
                </a:cubicBezTo>
                <a:cubicBezTo>
                  <a:pt x="3504570" y="7531"/>
                  <a:pt x="3935938" y="153650"/>
                  <a:pt x="4291186" y="430072"/>
                </a:cubicBezTo>
                <a:lnTo>
                  <a:pt x="4291463" y="430316"/>
                </a:lnTo>
                <a:close/>
              </a:path>
            </a:pathLst>
          </a:custGeom>
          <a:gradFill>
            <a:gsLst>
              <a:gs pos="32000">
                <a:schemeClr val="bg2">
                  <a:alpha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605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DCA988-1CD6-EE4D-3E4B-83D53D836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B5CE8706-C904-73E3-C523-33027F7D3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53201B-432F-7A72-6FF6-CF0404210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een and white triangle pattern&#10;&#10;Description automatically generated">
            <a:extLst>
              <a:ext uri="{FF2B5EF4-FFF2-40B4-BE49-F238E27FC236}">
                <a16:creationId xmlns:a16="http://schemas.microsoft.com/office/drawing/2014/main" id="{427474EC-ABC2-BB49-C6B8-AFAF67B44EB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17883"/>
          <a:stretch/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0825FF-B45A-34E5-A5B6-3F6ECD5F0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143000"/>
            <a:ext cx="5345502" cy="12573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>
                <a:solidFill>
                  <a:srgbClr val="FFFFFF"/>
                </a:solidFill>
              </a:rPr>
              <a:t>Challenges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5FA52-6C13-FE70-D4D3-2A38886E6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798" y="2648444"/>
            <a:ext cx="5029202" cy="3066555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/>
            <a:r>
              <a:rPr lang="en-US">
                <a:solidFill>
                  <a:srgbClr val="FFFFFF"/>
                </a:solidFill>
              </a:rPr>
              <a:t>1. Hash collisions in Rabin-Karp.</a:t>
            </a:r>
          </a:p>
          <a:p>
            <a:pPr indent="-228600"/>
            <a:r>
              <a:rPr lang="en-US">
                <a:solidFill>
                  <a:srgbClr val="FFFFFF"/>
                </a:solidFill>
              </a:rPr>
              <a:t>2. Handling overlapping patterns.</a:t>
            </a:r>
          </a:p>
          <a:p>
            <a:pPr indent="-228600"/>
            <a:r>
              <a:rPr lang="en-US">
                <a:solidFill>
                  <a:srgbClr val="FFFFFF"/>
                </a:solidFill>
              </a:rPr>
              <a:t>3. Designing user-friendly visualizations.</a:t>
            </a:r>
          </a:p>
          <a:p>
            <a:pPr indent="-228600"/>
            <a:r>
              <a:rPr lang="en-US">
                <a:solidFill>
                  <a:srgbClr val="FFFFFF"/>
                </a:solidFill>
              </a:rPr>
              <a:t>4. Testing across diverse text files.</a:t>
            </a:r>
          </a:p>
        </p:txBody>
      </p:sp>
    </p:spTree>
    <p:extLst>
      <p:ext uri="{BB962C8B-B14F-4D97-AF65-F5344CB8AC3E}">
        <p14:creationId xmlns:p14="http://schemas.microsoft.com/office/powerpoint/2010/main" val="1958020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80BF9-E414-30AA-8BB9-684E96912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8753201B-432F-7A72-6FF6-CF0404210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een and white triangle pattern&#10;&#10;Description automatically generated">
            <a:extLst>
              <a:ext uri="{FF2B5EF4-FFF2-40B4-BE49-F238E27FC236}">
                <a16:creationId xmlns:a16="http://schemas.microsoft.com/office/drawing/2014/main" id="{649F7493-A045-FC3A-4874-0278328D104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17883"/>
          <a:stretch/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42AE3-CEE6-9FC4-1C1B-B63151B49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799" y="1143000"/>
            <a:ext cx="4394201" cy="2286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4800">
                <a:solidFill>
                  <a:srgbClr val="FFFFFF"/>
                </a:solidFill>
              </a:rPr>
              <a:t>Skills Acquired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F348F4-0217-FAFC-88A9-4FBE0A3A3E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1207697"/>
            <a:ext cx="4953000" cy="4507303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/>
            <a:r>
              <a:rPr lang="en-US">
                <a:solidFill>
                  <a:srgbClr val="FFFFFF"/>
                </a:solidFill>
              </a:rPr>
              <a:t>1. In-depth understanding of KMP and Rabin-Karp.</a:t>
            </a:r>
          </a:p>
          <a:p>
            <a:pPr indent="-228600"/>
            <a:r>
              <a:rPr lang="en-US">
                <a:solidFill>
                  <a:srgbClr val="FFFFFF"/>
                </a:solidFill>
              </a:rPr>
              <a:t>2. Efficiency analysis and debugging.</a:t>
            </a:r>
          </a:p>
          <a:p>
            <a:pPr indent="-228600"/>
            <a:r>
              <a:rPr lang="en-US">
                <a:solidFill>
                  <a:srgbClr val="FFFFFF"/>
                </a:solidFill>
              </a:rPr>
              <a:t>3. Visualization design and implementation.</a:t>
            </a:r>
          </a:p>
          <a:p>
            <a:pPr indent="-228600"/>
            <a:r>
              <a:rPr lang="en-US">
                <a:solidFill>
                  <a:srgbClr val="FFFFFF"/>
                </a:solidFill>
              </a:rPr>
              <a:t>4. Problem-solving for algorithmic challenges.</a:t>
            </a:r>
          </a:p>
        </p:txBody>
      </p:sp>
    </p:spTree>
    <p:extLst>
      <p:ext uri="{BB962C8B-B14F-4D97-AF65-F5344CB8AC3E}">
        <p14:creationId xmlns:p14="http://schemas.microsoft.com/office/powerpoint/2010/main" val="142062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753201B-432F-7A72-6FF6-CF0404210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een and white triangle pattern&#10;&#10;Description automatically generated">
            <a:extLst>
              <a:ext uri="{FF2B5EF4-FFF2-40B4-BE49-F238E27FC236}">
                <a16:creationId xmlns:a16="http://schemas.microsoft.com/office/drawing/2014/main" id="{85AA34D3-7BF7-F4F3-B7C8-4FAFB9F341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17883"/>
          <a:stretch/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E68AEB-5F9E-EA4B-8DCE-5D4D0F209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1143000"/>
            <a:ext cx="4394201" cy="2286000"/>
          </a:xfrm>
        </p:spPr>
        <p:txBody>
          <a:bodyPr anchor="t"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466E00-D35A-2F2D-6DEE-8B048D90A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207697"/>
            <a:ext cx="4953000" cy="450730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1. Practical insights into KMP and Rabin-Karp applications.</a:t>
            </a:r>
          </a:p>
          <a:p>
            <a:r>
              <a:rPr lang="en-US">
                <a:solidFill>
                  <a:srgbClr val="FFFFFF"/>
                </a:solidFill>
              </a:rPr>
              <a:t>2. Addressed challenges and optimized algorithms.</a:t>
            </a:r>
          </a:p>
          <a:p>
            <a:r>
              <a:rPr lang="en-US">
                <a:solidFill>
                  <a:srgbClr val="FFFFFF"/>
                </a:solidFill>
              </a:rPr>
              <a:t>3. Strong foundation for future text processing projects.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330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753201B-432F-7A72-6FF6-CF0404210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een and white triangle pattern&#10;&#10;Description automatically generated">
            <a:extLst>
              <a:ext uri="{FF2B5EF4-FFF2-40B4-BE49-F238E27FC236}">
                <a16:creationId xmlns:a16="http://schemas.microsoft.com/office/drawing/2014/main" id="{A9AEDEB5-1985-1F92-AEAD-DDC2A79ADCF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17883"/>
          <a:stretch/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938F72-EEF0-85B0-33BB-B7B3CB60A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1143000"/>
            <a:ext cx="4394201" cy="2286000"/>
          </a:xfrm>
        </p:spPr>
        <p:txBody>
          <a:bodyPr anchor="t"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EA257-ED63-8514-6F4F-1526A8BE7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207697"/>
            <a:ext cx="4953000" cy="4507303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0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400" kern="1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Cormen, T. H., Leiserson, C. E., Rivest, R. L., &amp; Stein, C. (2009). </a:t>
            </a:r>
            <a:r>
              <a:rPr lang="en-US" sz="1400" i="1" kern="1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 to algorithms</a:t>
            </a:r>
            <a:r>
              <a:rPr lang="en-US" sz="1400" kern="1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(3rd ed.). The MIT Press.</a:t>
            </a:r>
            <a:endParaRPr lang="en-US" sz="1400" kern="100">
              <a:solidFill>
                <a:srgbClr val="FFFFFF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400" kern="1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GeeksforGeeks. (2023). Knuth-Morris-Pratt (KMP) algorithm for pattern searching. Retrieved from </a:t>
            </a:r>
            <a:r>
              <a:rPr lang="en-US" sz="1400" u="sng" kern="1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https://www.geeksforgeeks.org/knuth-morris-pratt-kmp-algorithm-for-pattern-searching/</a:t>
            </a:r>
            <a:endParaRPr lang="en-US" sz="1400" kern="100">
              <a:solidFill>
                <a:srgbClr val="FFFFFF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400" kern="1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Gusfield, D. (1997). </a:t>
            </a:r>
            <a:r>
              <a:rPr lang="en-US" sz="1400" i="1" kern="1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Algorithms on strings, trees, and sequences: Computer science and computational biology</a:t>
            </a:r>
            <a:r>
              <a:rPr lang="en-US" sz="1400" kern="1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Cambridge University Press.</a:t>
            </a:r>
            <a:endParaRPr lang="en-US" sz="1400" kern="100">
              <a:solidFill>
                <a:srgbClr val="FFFFFF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400" kern="1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Karp, R. M., &amp; Rabin, M. O. (1987). Efficient randomized pattern-matching algorithms. </a:t>
            </a:r>
            <a:r>
              <a:rPr lang="en-US" sz="1400" i="1" kern="1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IBM Journal of Research and Development, 31</a:t>
            </a:r>
            <a:r>
              <a:rPr lang="en-US" sz="1400" kern="1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(2), 249-260.</a:t>
            </a:r>
            <a:endParaRPr lang="en-US" sz="1400" kern="100">
              <a:solidFill>
                <a:srgbClr val="FFFFFF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400" kern="1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Knuth, D. E., Morris, J. H., &amp; Pratt, V. R. (1977). Fast pattern matching in strings. </a:t>
            </a:r>
            <a:r>
              <a:rPr lang="en-US" sz="1400" i="1" kern="1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SIAM Journal on Computing, 6</a:t>
            </a:r>
            <a:r>
              <a:rPr lang="en-US" sz="1400" kern="1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(2), 323-350.</a:t>
            </a:r>
            <a:endParaRPr lang="en-US" sz="1400" kern="100">
              <a:solidFill>
                <a:srgbClr val="FFFFFF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130184"/>
      </p:ext>
    </p:extLst>
  </p:cSld>
  <p:clrMapOvr>
    <a:masterClrMapping/>
  </p:clrMapOvr>
</p:sld>
</file>

<file path=ppt/theme/theme1.xml><?xml version="1.0" encoding="utf-8"?>
<a:theme xmlns:a="http://schemas.openxmlformats.org/drawingml/2006/main" name="SwellVTI">
  <a:themeElements>
    <a:clrScheme name="Swell">
      <a:dk1>
        <a:sysClr val="windowText" lastClr="000000"/>
      </a:dk1>
      <a:lt1>
        <a:sysClr val="window" lastClr="FFFFFF"/>
      </a:lt1>
      <a:dk2>
        <a:srgbClr val="233B47"/>
      </a:dk2>
      <a:lt2>
        <a:srgbClr val="FEEFD9"/>
      </a:lt2>
      <a:accent1>
        <a:srgbClr val="16AEA7"/>
      </a:accent1>
      <a:accent2>
        <a:srgbClr val="618F88"/>
      </a:accent2>
      <a:accent3>
        <a:srgbClr val="7A9973"/>
      </a:accent3>
      <a:accent4>
        <a:srgbClr val="8AAE8E"/>
      </a:accent4>
      <a:accent5>
        <a:srgbClr val="EB8F60"/>
      </a:accent5>
      <a:accent6>
        <a:srgbClr val="E57A6F"/>
      </a:accent6>
      <a:hlink>
        <a:srgbClr val="13968F"/>
      </a:hlink>
      <a:folHlink>
        <a:srgbClr val="E5615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13539C-56D0-A747-B281-54A659434843}">
  <we:reference id="wa200001409" version="2.0.0.0" store="en-US" storeType="OMEX"/>
  <we:alternateReferences>
    <we:reference id="wa200001409" version="2.0.0.0" store="wa20000140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1163</Words>
  <Application>Microsoft Macintosh PowerPoint</Application>
  <PresentationFormat>Widescreen</PresentationFormat>
  <Paragraphs>109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Courier New</vt:lpstr>
      <vt:lpstr>Neue Haas Grotesk Text Pro</vt:lpstr>
      <vt:lpstr>Symbol</vt:lpstr>
      <vt:lpstr>Times New Roman</vt:lpstr>
      <vt:lpstr>SwellVTI</vt:lpstr>
      <vt:lpstr>Topic- Text Pattern Matching Tool </vt:lpstr>
      <vt:lpstr>Project Goals </vt:lpstr>
      <vt:lpstr>Methodology </vt:lpstr>
      <vt:lpstr>Results</vt:lpstr>
      <vt:lpstr>Performance Analysis </vt:lpstr>
      <vt:lpstr>Challenges</vt:lpstr>
      <vt:lpstr>Skills Acquired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Tripti Vishwakarma</dc:creator>
  <cp:keywords/>
  <dc:description/>
  <cp:lastModifiedBy>Tripti Vishwakarma</cp:lastModifiedBy>
  <cp:revision>2</cp:revision>
  <dcterms:created xsi:type="dcterms:W3CDTF">2025-01-13T00:35:57Z</dcterms:created>
  <dcterms:modified xsi:type="dcterms:W3CDTF">2025-01-13T01:56:11Z</dcterms:modified>
  <cp:category/>
</cp:coreProperties>
</file>