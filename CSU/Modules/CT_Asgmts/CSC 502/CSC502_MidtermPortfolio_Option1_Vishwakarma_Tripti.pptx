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71" r:id="rId2"/>
    <p:sldId id="274" r:id="rId3"/>
    <p:sldId id="272" r:id="rId4"/>
    <p:sldId id="269" r:id="rId5"/>
    <p:sldId id="265" r:id="rId6"/>
    <p:sldId id="267" r:id="rId7"/>
    <p:sldId id="268" r:id="rId8"/>
    <p:sldId id="258" r:id="rId9"/>
    <p:sldId id="275" r:id="rId10"/>
    <p:sldId id="276" r:id="rId11"/>
    <p:sldId id="27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2"/>
  </p:normalViewPr>
  <p:slideViewPr>
    <p:cSldViewPr snapToGrid="0">
      <p:cViewPr varScale="1">
        <p:scale>
          <a:sx n="76" d="100"/>
          <a:sy n="76" d="100"/>
        </p:scale>
        <p:origin x="216" y="2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64F955-0F59-4335-8B2B-F3CDF2C520D6}"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CF70D2B-F549-4C4F-A6DA-70B5E40FFD76}">
      <dgm:prSet/>
      <dgm:spPr/>
      <dgm:t>
        <a:bodyPr/>
        <a:lstStyle/>
        <a:p>
          <a:r>
            <a:rPr lang="en-US" b="1" i="0" dirty="0"/>
            <a:t>Conclusion:</a:t>
          </a:r>
          <a:r>
            <a:rPr lang="en-US" b="0" i="0" dirty="0"/>
            <a:t> Drone technologies offer benefits but pose significant ethical challenges. (Finn &amp; Wright, 2012; Clarke, 2014; Cahill &amp; Banks, 2014; Strawser, 2010)</a:t>
          </a:r>
          <a:endParaRPr lang="en-US" dirty="0"/>
        </a:p>
      </dgm:t>
    </dgm:pt>
    <dgm:pt modelId="{6BF3A502-E119-4C60-BDEE-8E285A7B73BB}" type="parTrans" cxnId="{E8424E86-839A-48AE-A707-2978215C73B3}">
      <dgm:prSet/>
      <dgm:spPr/>
      <dgm:t>
        <a:bodyPr/>
        <a:lstStyle/>
        <a:p>
          <a:endParaRPr lang="en-US"/>
        </a:p>
      </dgm:t>
    </dgm:pt>
    <dgm:pt modelId="{B87D8C69-7301-4A79-9466-387CD81A11FC}" type="sibTrans" cxnId="{E8424E86-839A-48AE-A707-2978215C73B3}">
      <dgm:prSet/>
      <dgm:spPr/>
      <dgm:t>
        <a:bodyPr/>
        <a:lstStyle/>
        <a:p>
          <a:endParaRPr lang="en-US"/>
        </a:p>
      </dgm:t>
    </dgm:pt>
    <dgm:pt modelId="{A97FC02D-0454-4EAE-9FC2-1278D1ED7005}">
      <dgm:prSet/>
      <dgm:spPr/>
      <dgm:t>
        <a:bodyPr/>
        <a:lstStyle/>
        <a:p>
          <a:r>
            <a:rPr lang="en-US" b="1" i="0"/>
            <a:t>Call to Action:</a:t>
          </a:r>
          <a:r>
            <a:rPr lang="en-US" b="0" i="0"/>
            <a:t> Policymakers, technologists, and society must collaborate to develop ethical guidelines and robust regulatory frameworks.</a:t>
          </a:r>
          <a:endParaRPr lang="en-US"/>
        </a:p>
      </dgm:t>
    </dgm:pt>
    <dgm:pt modelId="{B5AD63CD-7002-4847-9035-E475C85D6437}" type="parTrans" cxnId="{BA7F328D-8DC6-447F-A905-46B38BB0FA8C}">
      <dgm:prSet/>
      <dgm:spPr/>
      <dgm:t>
        <a:bodyPr/>
        <a:lstStyle/>
        <a:p>
          <a:endParaRPr lang="en-US"/>
        </a:p>
      </dgm:t>
    </dgm:pt>
    <dgm:pt modelId="{7C745A0F-28C8-474E-918D-2A4ED2D527DD}" type="sibTrans" cxnId="{BA7F328D-8DC6-447F-A905-46B38BB0FA8C}">
      <dgm:prSet/>
      <dgm:spPr/>
      <dgm:t>
        <a:bodyPr/>
        <a:lstStyle/>
        <a:p>
          <a:endParaRPr lang="en-US"/>
        </a:p>
      </dgm:t>
    </dgm:pt>
    <dgm:pt modelId="{773C27C4-1FCC-4342-918B-F3B85FE8EE1F}" type="pres">
      <dgm:prSet presAssocID="{8B64F955-0F59-4335-8B2B-F3CDF2C520D6}" presName="root" presStyleCnt="0">
        <dgm:presLayoutVars>
          <dgm:dir/>
          <dgm:resizeHandles val="exact"/>
        </dgm:presLayoutVars>
      </dgm:prSet>
      <dgm:spPr/>
    </dgm:pt>
    <dgm:pt modelId="{4297956E-C544-4048-A72B-B5262FE8C9C3}" type="pres">
      <dgm:prSet presAssocID="{DCF70D2B-F549-4C4F-A6DA-70B5E40FFD76}" presName="compNode" presStyleCnt="0"/>
      <dgm:spPr/>
    </dgm:pt>
    <dgm:pt modelId="{7CEACF6D-C570-4451-8CF7-255443E623BC}" type="pres">
      <dgm:prSet presAssocID="{DCF70D2B-F549-4C4F-A6DA-70B5E40FFD7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tterfly"/>
        </a:ext>
      </dgm:extLst>
    </dgm:pt>
    <dgm:pt modelId="{DB562D12-A9B4-4993-9B54-EEE83176A648}" type="pres">
      <dgm:prSet presAssocID="{DCF70D2B-F549-4C4F-A6DA-70B5E40FFD76}" presName="spaceRect" presStyleCnt="0"/>
      <dgm:spPr/>
    </dgm:pt>
    <dgm:pt modelId="{6B3E250B-BDD4-48B9-87C1-11A34C9AB7A1}" type="pres">
      <dgm:prSet presAssocID="{DCF70D2B-F549-4C4F-A6DA-70B5E40FFD76}" presName="textRect" presStyleLbl="revTx" presStyleIdx="0" presStyleCnt="2">
        <dgm:presLayoutVars>
          <dgm:chMax val="1"/>
          <dgm:chPref val="1"/>
        </dgm:presLayoutVars>
      </dgm:prSet>
      <dgm:spPr/>
    </dgm:pt>
    <dgm:pt modelId="{0757CB24-04EF-4AC6-A872-F8DF1897FB49}" type="pres">
      <dgm:prSet presAssocID="{B87D8C69-7301-4A79-9466-387CD81A11FC}" presName="sibTrans" presStyleCnt="0"/>
      <dgm:spPr/>
    </dgm:pt>
    <dgm:pt modelId="{48279934-3D3D-4FB6-BF41-EF203A46A214}" type="pres">
      <dgm:prSet presAssocID="{A97FC02D-0454-4EAE-9FC2-1278D1ED7005}" presName="compNode" presStyleCnt="0"/>
      <dgm:spPr/>
    </dgm:pt>
    <dgm:pt modelId="{A5B6A8D2-3A86-4235-BEAB-85CA0D50A127}" type="pres">
      <dgm:prSet presAssocID="{A97FC02D-0454-4EAE-9FC2-1278D1ED700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a:ext>
      </dgm:extLst>
    </dgm:pt>
    <dgm:pt modelId="{5FFDB665-9120-4923-9318-4C452B18D52A}" type="pres">
      <dgm:prSet presAssocID="{A97FC02D-0454-4EAE-9FC2-1278D1ED7005}" presName="spaceRect" presStyleCnt="0"/>
      <dgm:spPr/>
    </dgm:pt>
    <dgm:pt modelId="{8A7ACC69-118E-4CB3-884C-030759F05B7A}" type="pres">
      <dgm:prSet presAssocID="{A97FC02D-0454-4EAE-9FC2-1278D1ED7005}" presName="textRect" presStyleLbl="revTx" presStyleIdx="1" presStyleCnt="2">
        <dgm:presLayoutVars>
          <dgm:chMax val="1"/>
          <dgm:chPref val="1"/>
        </dgm:presLayoutVars>
      </dgm:prSet>
      <dgm:spPr/>
    </dgm:pt>
  </dgm:ptLst>
  <dgm:cxnLst>
    <dgm:cxn modelId="{D0626E03-B6A1-4608-9C74-EEBF25C54B92}" type="presOf" srcId="{DCF70D2B-F549-4C4F-A6DA-70B5E40FFD76}" destId="{6B3E250B-BDD4-48B9-87C1-11A34C9AB7A1}" srcOrd="0" destOrd="0" presId="urn:microsoft.com/office/officeart/2018/2/layout/IconLabelList"/>
    <dgm:cxn modelId="{0D190232-ACC2-4F50-8FBB-208CEAC0C0D1}" type="presOf" srcId="{A97FC02D-0454-4EAE-9FC2-1278D1ED7005}" destId="{8A7ACC69-118E-4CB3-884C-030759F05B7A}" srcOrd="0" destOrd="0" presId="urn:microsoft.com/office/officeart/2018/2/layout/IconLabelList"/>
    <dgm:cxn modelId="{E8424E86-839A-48AE-A707-2978215C73B3}" srcId="{8B64F955-0F59-4335-8B2B-F3CDF2C520D6}" destId="{DCF70D2B-F549-4C4F-A6DA-70B5E40FFD76}" srcOrd="0" destOrd="0" parTransId="{6BF3A502-E119-4C60-BDEE-8E285A7B73BB}" sibTransId="{B87D8C69-7301-4A79-9466-387CD81A11FC}"/>
    <dgm:cxn modelId="{BA7F328D-8DC6-447F-A905-46B38BB0FA8C}" srcId="{8B64F955-0F59-4335-8B2B-F3CDF2C520D6}" destId="{A97FC02D-0454-4EAE-9FC2-1278D1ED7005}" srcOrd="1" destOrd="0" parTransId="{B5AD63CD-7002-4847-9035-E475C85D6437}" sibTransId="{7C745A0F-28C8-474E-918D-2A4ED2D527DD}"/>
    <dgm:cxn modelId="{B01530CC-7F60-4A69-B943-D7D1014D72CB}" type="presOf" srcId="{8B64F955-0F59-4335-8B2B-F3CDF2C520D6}" destId="{773C27C4-1FCC-4342-918B-F3B85FE8EE1F}" srcOrd="0" destOrd="0" presId="urn:microsoft.com/office/officeart/2018/2/layout/IconLabelList"/>
    <dgm:cxn modelId="{C757EE87-9D04-4EC8-9774-5AFE22BC7903}" type="presParOf" srcId="{773C27C4-1FCC-4342-918B-F3B85FE8EE1F}" destId="{4297956E-C544-4048-A72B-B5262FE8C9C3}" srcOrd="0" destOrd="0" presId="urn:microsoft.com/office/officeart/2018/2/layout/IconLabelList"/>
    <dgm:cxn modelId="{65B31B99-6B21-41E6-8681-EAF1F9383695}" type="presParOf" srcId="{4297956E-C544-4048-A72B-B5262FE8C9C3}" destId="{7CEACF6D-C570-4451-8CF7-255443E623BC}" srcOrd="0" destOrd="0" presId="urn:microsoft.com/office/officeart/2018/2/layout/IconLabelList"/>
    <dgm:cxn modelId="{316C6967-9902-4F5E-820B-DDBE97F2D412}" type="presParOf" srcId="{4297956E-C544-4048-A72B-B5262FE8C9C3}" destId="{DB562D12-A9B4-4993-9B54-EEE83176A648}" srcOrd="1" destOrd="0" presId="urn:microsoft.com/office/officeart/2018/2/layout/IconLabelList"/>
    <dgm:cxn modelId="{B5574336-6191-41A1-9883-5BB317D2CF07}" type="presParOf" srcId="{4297956E-C544-4048-A72B-B5262FE8C9C3}" destId="{6B3E250B-BDD4-48B9-87C1-11A34C9AB7A1}" srcOrd="2" destOrd="0" presId="urn:microsoft.com/office/officeart/2018/2/layout/IconLabelList"/>
    <dgm:cxn modelId="{B6E85A83-6EB2-4D03-95EE-630BB78F3D16}" type="presParOf" srcId="{773C27C4-1FCC-4342-918B-F3B85FE8EE1F}" destId="{0757CB24-04EF-4AC6-A872-F8DF1897FB49}" srcOrd="1" destOrd="0" presId="urn:microsoft.com/office/officeart/2018/2/layout/IconLabelList"/>
    <dgm:cxn modelId="{F6818844-B0F0-4B9B-9618-6BC2E7AA236E}" type="presParOf" srcId="{773C27C4-1FCC-4342-918B-F3B85FE8EE1F}" destId="{48279934-3D3D-4FB6-BF41-EF203A46A214}" srcOrd="2" destOrd="0" presId="urn:microsoft.com/office/officeart/2018/2/layout/IconLabelList"/>
    <dgm:cxn modelId="{E077F9CF-2795-4767-BD0B-306B3C1B4E2B}" type="presParOf" srcId="{48279934-3D3D-4FB6-BF41-EF203A46A214}" destId="{A5B6A8D2-3A86-4235-BEAB-85CA0D50A127}" srcOrd="0" destOrd="0" presId="urn:microsoft.com/office/officeart/2018/2/layout/IconLabelList"/>
    <dgm:cxn modelId="{7C3034F4-C137-47A6-A7E4-FAE132FEE79B}" type="presParOf" srcId="{48279934-3D3D-4FB6-BF41-EF203A46A214}" destId="{5FFDB665-9120-4923-9318-4C452B18D52A}" srcOrd="1" destOrd="0" presId="urn:microsoft.com/office/officeart/2018/2/layout/IconLabelList"/>
    <dgm:cxn modelId="{4761F5CB-BA22-480D-8A73-FCFCBB7BFC1F}" type="presParOf" srcId="{48279934-3D3D-4FB6-BF41-EF203A46A214}" destId="{8A7ACC69-118E-4CB3-884C-030759F05B7A}"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EACF6D-C570-4451-8CF7-255443E623BC}">
      <dsp:nvSpPr>
        <dsp:cNvPr id="0" name=""/>
        <dsp:cNvSpPr/>
      </dsp:nvSpPr>
      <dsp:spPr>
        <a:xfrm>
          <a:off x="1302691" y="144098"/>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B3E250B-BDD4-48B9-87C1-11A34C9AB7A1}">
      <dsp:nvSpPr>
        <dsp:cNvPr id="0" name=""/>
        <dsp:cNvSpPr/>
      </dsp:nvSpPr>
      <dsp:spPr>
        <a:xfrm>
          <a:off x="114691" y="2558584"/>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b="1" i="0" kern="1200" dirty="0"/>
            <a:t>Conclusion:</a:t>
          </a:r>
          <a:r>
            <a:rPr lang="en-US" sz="1200" b="0" i="0" kern="1200" dirty="0"/>
            <a:t> Drone technologies offer benefits but pose significant ethical challenges. (Finn &amp; Wright, 2012; Clarke, 2014; Cahill &amp; Banks, 2014; Strawser, 2010)</a:t>
          </a:r>
          <a:endParaRPr lang="en-US" sz="1200" kern="1200" dirty="0"/>
        </a:p>
      </dsp:txBody>
      <dsp:txXfrm>
        <a:off x="114691" y="2558584"/>
        <a:ext cx="4320000" cy="720000"/>
      </dsp:txXfrm>
    </dsp:sp>
    <dsp:sp modelId="{A5B6A8D2-3A86-4235-BEAB-85CA0D50A127}">
      <dsp:nvSpPr>
        <dsp:cNvPr id="0" name=""/>
        <dsp:cNvSpPr/>
      </dsp:nvSpPr>
      <dsp:spPr>
        <a:xfrm>
          <a:off x="6378691" y="144098"/>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A7ACC69-118E-4CB3-884C-030759F05B7A}">
      <dsp:nvSpPr>
        <dsp:cNvPr id="0" name=""/>
        <dsp:cNvSpPr/>
      </dsp:nvSpPr>
      <dsp:spPr>
        <a:xfrm>
          <a:off x="5190691" y="2558584"/>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pPr>
          <a:r>
            <a:rPr lang="en-US" sz="1200" b="1" i="0" kern="1200"/>
            <a:t>Call to Action:</a:t>
          </a:r>
          <a:r>
            <a:rPr lang="en-US" sz="1200" b="0" i="0" kern="1200"/>
            <a:t> Policymakers, technologists, and society must collaborate to develop ethical guidelines and robust regulatory frameworks.</a:t>
          </a:r>
          <a:endParaRPr lang="en-US" sz="1200" kern="1200"/>
        </a:p>
      </dsp:txBody>
      <dsp:txXfrm>
        <a:off x="5190691" y="2558584"/>
        <a:ext cx="432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70AC87-A2D5-324C-AF7F-1189C3564DFB}" type="datetimeFigureOut">
              <a:rPr lang="en-US" smtClean="0"/>
              <a:t>10/9/24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8DE642-365D-A24D-A93D-F8AB9D0D39D5}" type="slidenum">
              <a:rPr lang="en-US" smtClean="0"/>
              <a:t>‹#›</a:t>
            </a:fld>
            <a:endParaRPr lang="en-US"/>
          </a:p>
        </p:txBody>
      </p:sp>
    </p:spTree>
    <p:extLst>
      <p:ext uri="{BB962C8B-B14F-4D97-AF65-F5344CB8AC3E}">
        <p14:creationId xmlns:p14="http://schemas.microsoft.com/office/powerpoint/2010/main" val="1699548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8DE642-365D-A24D-A93D-F8AB9D0D39D5}" type="slidenum">
              <a:rPr lang="en-US" smtClean="0"/>
              <a:t>8</a:t>
            </a:fld>
            <a:endParaRPr lang="en-US"/>
          </a:p>
        </p:txBody>
      </p:sp>
    </p:spTree>
    <p:extLst>
      <p:ext uri="{BB962C8B-B14F-4D97-AF65-F5344CB8AC3E}">
        <p14:creationId xmlns:p14="http://schemas.microsoft.com/office/powerpoint/2010/main" val="14747408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10/9/24</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10/9/24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10/9/24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10/9/24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10/9/24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10/9/24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10/9/24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10/9/24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10/9/24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10/9/24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10/9/24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10/9/24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10/9/24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10/9/24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10/9/24</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10/9/24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10/9/24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10/9/24</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
        <p:nvSpPr>
          <p:cNvPr id="10" name="TextBox 9">
            <a:extLst>
              <a:ext uri="{FF2B5EF4-FFF2-40B4-BE49-F238E27FC236}">
                <a16:creationId xmlns:a16="http://schemas.microsoft.com/office/drawing/2014/main" id="{32490B40-D64D-C193-D29D-9F824DE7F192}"/>
              </a:ext>
            </a:extLst>
          </p:cNvPr>
          <p:cNvSpPr txBox="1"/>
          <p:nvPr userDrawn="1">
            <p:extLst>
              <p:ext uri="{1162E1C5-73C7-4A58-AE30-91384D911F3F}">
                <p184:classification xmlns:p184="http://schemas.microsoft.com/office/powerpoint/2018/4/main" val="ftr"/>
              </p:ext>
            </p:extLst>
          </p:nvPr>
        </p:nvSpPr>
        <p:spPr>
          <a:xfrm>
            <a:off x="11385550" y="6672580"/>
            <a:ext cx="765175"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cs typeface="Calibri" panose="020F0502020204030204" pitchFamily="34" charset="0"/>
              </a:rPr>
              <a:t>Cisco Confidential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hyperlink" Target="https://www.csir.co.za/" TargetMode="External"/><Relationship Id="rId3" Type="http://schemas.openxmlformats.org/officeDocument/2006/relationships/image" Target="../media/image1.jpeg"/><Relationship Id="rId7" Type="http://schemas.openxmlformats.org/officeDocument/2006/relationships/hyperlink" Target="https://cis-india.org/"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au.int/" TargetMode="External"/><Relationship Id="rId5" Type="http://schemas.openxmlformats.org/officeDocument/2006/relationships/image" Target="../media/image10.sv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19FB53B-3C6C-E992-9974-F1D6811E8F0A}"/>
              </a:ext>
            </a:extLst>
          </p:cNvPr>
          <p:cNvSpPr>
            <a:spLocks noGrp="1"/>
          </p:cNvSpPr>
          <p:nvPr>
            <p:ph type="subTitle" idx="1"/>
          </p:nvPr>
        </p:nvSpPr>
        <p:spPr>
          <a:xfrm>
            <a:off x="1046098" y="1293951"/>
            <a:ext cx="9763416" cy="4464591"/>
          </a:xfrm>
        </p:spPr>
        <p:txBody>
          <a:bodyPr>
            <a:normAutofit/>
          </a:bodyPr>
          <a:lstStyle/>
          <a:p>
            <a:r>
              <a:rPr lang="en-US" sz="6000" dirty="0"/>
              <a:t>Ethical issues </a:t>
            </a:r>
          </a:p>
          <a:p>
            <a:r>
              <a:rPr lang="en-US" sz="6000" dirty="0"/>
              <a:t>OF </a:t>
            </a:r>
          </a:p>
          <a:p>
            <a:r>
              <a:rPr lang="en-US" sz="6000" dirty="0"/>
              <a:t>DRONE </a:t>
            </a:r>
          </a:p>
          <a:p>
            <a:r>
              <a:rPr lang="en-US" sz="6000" dirty="0"/>
              <a:t>USE</a:t>
            </a:r>
          </a:p>
        </p:txBody>
      </p:sp>
    </p:spTree>
    <p:extLst>
      <p:ext uri="{BB962C8B-B14F-4D97-AF65-F5344CB8AC3E}">
        <p14:creationId xmlns:p14="http://schemas.microsoft.com/office/powerpoint/2010/main" val="58409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239B6-50D1-6F78-C5BB-1578B5CE6CA6}"/>
              </a:ext>
            </a:extLst>
          </p:cNvPr>
          <p:cNvSpPr>
            <a:spLocks noGrp="1"/>
          </p:cNvSpPr>
          <p:nvPr>
            <p:ph type="title"/>
          </p:nvPr>
        </p:nvSpPr>
        <p:spPr>
          <a:xfrm>
            <a:off x="1492579" y="942535"/>
            <a:ext cx="8761413" cy="942535"/>
          </a:xfrm>
        </p:spPr>
        <p:txBody>
          <a:bodyPr/>
          <a:lstStyle/>
          <a:p>
            <a:pPr algn="ctr"/>
            <a:r>
              <a:rPr lang="en-US" dirty="0">
                <a:solidFill>
                  <a:schemeClr val="accent1">
                    <a:lumMod val="60000"/>
                    <a:lumOff val="40000"/>
                  </a:schemeClr>
                </a:solidFill>
              </a:rPr>
              <a:t>NEED FOR ETHICS IN DRONE TECHNOLOGIES</a:t>
            </a:r>
          </a:p>
        </p:txBody>
      </p:sp>
      <p:sp>
        <p:nvSpPr>
          <p:cNvPr id="3" name="Content Placeholder 2">
            <a:extLst>
              <a:ext uri="{FF2B5EF4-FFF2-40B4-BE49-F238E27FC236}">
                <a16:creationId xmlns:a16="http://schemas.microsoft.com/office/drawing/2014/main" id="{75778F56-4F76-8DFD-FBD2-72BD8810D5C3}"/>
              </a:ext>
            </a:extLst>
          </p:cNvPr>
          <p:cNvSpPr>
            <a:spLocks noGrp="1"/>
          </p:cNvSpPr>
          <p:nvPr>
            <p:ph idx="1"/>
          </p:nvPr>
        </p:nvSpPr>
        <p:spPr/>
        <p:txBody>
          <a:bodyPr>
            <a:normAutofit/>
          </a:bodyPr>
          <a:lstStyle/>
          <a:p>
            <a:pPr marL="0" algn="ctr">
              <a:lnSpc>
                <a:spcPct val="200000"/>
              </a:lnSpc>
              <a:spcBef>
                <a:spcPts val="0"/>
              </a:spcBef>
            </a:pPr>
            <a:r>
              <a:rPr lang="en-US" sz="1600" kern="100" cap="all" dirty="0">
                <a:effectLst/>
                <a:ea typeface="Aptos" panose="020B0004020202020204" pitchFamily="34" charset="0"/>
                <a:cs typeface="Times New Roman" panose="02020603050405020304" pitchFamily="18" charset="0"/>
              </a:rPr>
              <a:t>Tripti Vishwakarma </a:t>
            </a:r>
          </a:p>
          <a:p>
            <a:pPr marL="0" marR="0" algn="ctr">
              <a:lnSpc>
                <a:spcPct val="200000"/>
              </a:lnSpc>
              <a:spcBef>
                <a:spcPts val="0"/>
              </a:spcBef>
              <a:spcAft>
                <a:spcPts val="0"/>
              </a:spcAft>
            </a:pPr>
            <a:r>
              <a:rPr lang="en-US" sz="1600" kern="100" cap="all" dirty="0">
                <a:effectLst/>
                <a:ea typeface="Aptos" panose="020B0004020202020204" pitchFamily="34" charset="0"/>
                <a:cs typeface="Times New Roman" panose="02020603050405020304" pitchFamily="18" charset="0"/>
              </a:rPr>
              <a:t>Colorado State University Global </a:t>
            </a:r>
          </a:p>
          <a:p>
            <a:pPr marL="0" marR="0" algn="ctr">
              <a:lnSpc>
                <a:spcPct val="200000"/>
              </a:lnSpc>
              <a:spcBef>
                <a:spcPts val="0"/>
              </a:spcBef>
              <a:spcAft>
                <a:spcPts val="0"/>
              </a:spcAft>
            </a:pPr>
            <a:r>
              <a:rPr lang="en-US" sz="1600" kern="100" cap="all" dirty="0">
                <a:effectLst/>
                <a:ea typeface="Aptos" panose="020B0004020202020204" pitchFamily="34" charset="0"/>
                <a:cs typeface="Times New Roman" panose="02020603050405020304" pitchFamily="18" charset="0"/>
              </a:rPr>
              <a:t>Course Code: CSC 502 – 2</a:t>
            </a:r>
          </a:p>
          <a:p>
            <a:pPr marL="0" marR="0" algn="ctr">
              <a:lnSpc>
                <a:spcPct val="200000"/>
              </a:lnSpc>
              <a:spcBef>
                <a:spcPts val="0"/>
              </a:spcBef>
              <a:spcAft>
                <a:spcPts val="0"/>
              </a:spcAft>
            </a:pPr>
            <a:r>
              <a:rPr lang="en-US" sz="1600" kern="100" cap="all" dirty="0">
                <a:effectLst/>
                <a:ea typeface="Aptos" panose="020B0004020202020204" pitchFamily="34" charset="0"/>
                <a:cs typeface="Times New Roman" panose="02020603050405020304" pitchFamily="18" charset="0"/>
              </a:rPr>
              <a:t>Dr Steven A. Evans</a:t>
            </a:r>
          </a:p>
          <a:p>
            <a:pPr marL="0" marR="0" algn="ctr">
              <a:lnSpc>
                <a:spcPct val="200000"/>
              </a:lnSpc>
              <a:spcBef>
                <a:spcPts val="0"/>
              </a:spcBef>
              <a:spcAft>
                <a:spcPts val="0"/>
              </a:spcAft>
            </a:pPr>
            <a:r>
              <a:rPr lang="en-US" sz="1600" kern="100" cap="all" dirty="0">
                <a:ea typeface="Aptos" panose="020B0004020202020204" pitchFamily="34" charset="0"/>
                <a:cs typeface="Times New Roman" panose="02020603050405020304" pitchFamily="18" charset="0"/>
              </a:rPr>
              <a:t>Oct 9, 2024</a:t>
            </a:r>
          </a:p>
          <a:p>
            <a:pPr marL="0" marR="0" algn="ctr">
              <a:lnSpc>
                <a:spcPct val="200000"/>
              </a:lnSpc>
              <a:spcBef>
                <a:spcPts val="0"/>
              </a:spcBef>
              <a:spcAft>
                <a:spcPts val="0"/>
              </a:spcAft>
            </a:pPr>
            <a:endParaRPr lang="en-US" kern="100" cap="all" dirty="0">
              <a:latin typeface="Arial" panose="020B0604020202020204" pitchFamily="34" charset="0"/>
              <a:ea typeface="Aptos" panose="020B0004020202020204" pitchFamily="34" charset="0"/>
              <a:cs typeface="Times New Roman" panose="02020603050405020304" pitchFamily="18" charset="0"/>
            </a:endParaRPr>
          </a:p>
          <a:p>
            <a:pPr marL="0" marR="0" algn="ctr">
              <a:lnSpc>
                <a:spcPct val="200000"/>
              </a:lnSpc>
              <a:spcBef>
                <a:spcPts val="0"/>
              </a:spcBef>
              <a:spcAft>
                <a:spcPts val="0"/>
              </a:spcAft>
            </a:pPr>
            <a:endParaRPr lang="en-US" sz="1800" kern="100" cap="all" dirty="0">
              <a:effectLst/>
              <a:latin typeface="Arial" panose="020B0604020202020204" pitchFamily="34" charset="0"/>
              <a:ea typeface="Aptos" panose="020B0004020202020204" pitchFamily="34" charset="0"/>
              <a:cs typeface="Times New Roman" panose="02020603050405020304" pitchFamily="18" charset="0"/>
            </a:endParaRPr>
          </a:p>
          <a:p>
            <a:pPr marL="0" marR="0" algn="ctr">
              <a:lnSpc>
                <a:spcPct val="200000"/>
              </a:lnSpc>
              <a:spcBef>
                <a:spcPts val="0"/>
              </a:spcBef>
              <a:spcAft>
                <a:spcPts val="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520184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19FB53B-3C6C-E992-9974-F1D6811E8F0A}"/>
              </a:ext>
            </a:extLst>
          </p:cNvPr>
          <p:cNvSpPr>
            <a:spLocks noGrp="1"/>
          </p:cNvSpPr>
          <p:nvPr>
            <p:ph type="subTitle" idx="1"/>
          </p:nvPr>
        </p:nvSpPr>
        <p:spPr>
          <a:xfrm>
            <a:off x="1046098" y="1130665"/>
            <a:ext cx="10536302" cy="4987106"/>
          </a:xfrm>
        </p:spPr>
        <p:txBody>
          <a:bodyPr>
            <a:normAutofit/>
          </a:bodyPr>
          <a:lstStyle/>
          <a:p>
            <a:r>
              <a:rPr lang="en-US" sz="4000" dirty="0"/>
              <a:t>PROBLEMS </a:t>
            </a:r>
          </a:p>
          <a:p>
            <a:r>
              <a:rPr lang="en-US" sz="4000" dirty="0"/>
              <a:t>ASSOCIATED WITH  </a:t>
            </a:r>
          </a:p>
          <a:p>
            <a:r>
              <a:rPr lang="en-US" sz="4000" dirty="0"/>
              <a:t>WIDESPREAD ADOPTION OF</a:t>
            </a:r>
          </a:p>
          <a:p>
            <a:r>
              <a:rPr lang="en-US" sz="4000" dirty="0"/>
              <a:t>DRONE TECHNOLOGIES</a:t>
            </a:r>
          </a:p>
        </p:txBody>
      </p:sp>
    </p:spTree>
    <p:extLst>
      <p:ext uri="{BB962C8B-B14F-4D97-AF65-F5344CB8AC3E}">
        <p14:creationId xmlns:p14="http://schemas.microsoft.com/office/powerpoint/2010/main" val="2259110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40" name="Rectangle 39">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1" name="Oval 40">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2" name="Oval 41">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3" name="Oval 42">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Oval 43">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5" name="Oval 44">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6"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47"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48"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49" name="Rectangle 48">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4585D7C-091D-3F21-FB45-15C25161538D}"/>
              </a:ext>
            </a:extLst>
          </p:cNvPr>
          <p:cNvSpPr>
            <a:spLocks noGrp="1"/>
          </p:cNvSpPr>
          <p:nvPr>
            <p:ph type="ctrTitle"/>
          </p:nvPr>
        </p:nvSpPr>
        <p:spPr>
          <a:xfrm>
            <a:off x="1154954" y="973668"/>
            <a:ext cx="8761413" cy="706964"/>
          </a:xfrm>
        </p:spPr>
        <p:txBody>
          <a:bodyPr vert="horz" lIns="91440" tIns="45720" rIns="91440" bIns="45720" rtlCol="0" anchor="ctr">
            <a:normAutofit/>
          </a:bodyPr>
          <a:lstStyle/>
          <a:p>
            <a:r>
              <a:rPr lang="en-US" sz="3600" b="0" i="0" kern="1200">
                <a:solidFill>
                  <a:srgbClr val="EBEBEB"/>
                </a:solidFill>
                <a:latin typeface="+mj-lt"/>
                <a:ea typeface="+mj-ea"/>
                <a:cs typeface="+mj-cs"/>
              </a:rPr>
              <a:t>Privacy</a:t>
            </a:r>
          </a:p>
        </p:txBody>
      </p:sp>
      <p:pic>
        <p:nvPicPr>
          <p:cNvPr id="7" name="Graphic 6" descr="Security Camera Sign">
            <a:extLst>
              <a:ext uri="{FF2B5EF4-FFF2-40B4-BE49-F238E27FC236}">
                <a16:creationId xmlns:a16="http://schemas.microsoft.com/office/drawing/2014/main" id="{83A4EBF4-6B6F-5996-8A5F-0EF0B94E0C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1467" y="2793582"/>
            <a:ext cx="3031901" cy="3031901"/>
          </a:xfrm>
          <a:prstGeom prst="roundRect">
            <a:avLst>
              <a:gd name="adj" fmla="val 1858"/>
            </a:avLst>
          </a:prstGeom>
          <a:effectLst>
            <a:outerShdw blurRad="50800" dist="50800" dir="5400000" algn="tl" rotWithShape="0">
              <a:srgbClr val="000000">
                <a:alpha val="43000"/>
              </a:srgbClr>
            </a:outerShdw>
          </a:effectLst>
        </p:spPr>
      </p:pic>
      <p:sp>
        <p:nvSpPr>
          <p:cNvPr id="3" name="Subtitle 2">
            <a:extLst>
              <a:ext uri="{FF2B5EF4-FFF2-40B4-BE49-F238E27FC236}">
                <a16:creationId xmlns:a16="http://schemas.microsoft.com/office/drawing/2014/main" id="{B19FB53B-3C6C-E992-9974-F1D6811E8F0A}"/>
              </a:ext>
            </a:extLst>
          </p:cNvPr>
          <p:cNvSpPr>
            <a:spLocks noGrp="1"/>
          </p:cNvSpPr>
          <p:nvPr>
            <p:ph type="subTitle" idx="1"/>
          </p:nvPr>
        </p:nvSpPr>
        <p:spPr>
          <a:xfrm>
            <a:off x="4641336" y="2603500"/>
            <a:ext cx="6551597" cy="3416300"/>
          </a:xfrm>
        </p:spPr>
        <p:txBody>
          <a:bodyPr vert="horz" lIns="91440" tIns="45720" rIns="91440" bIns="45720" rtlCol="0" anchor="ctr">
            <a:normAutofit/>
          </a:bodyPr>
          <a:lstStyle/>
          <a:p>
            <a:pPr>
              <a:lnSpc>
                <a:spcPct val="90000"/>
              </a:lnSpc>
              <a:buFont typeface="Wingdings 3" charset="2"/>
              <a:buChar char=""/>
            </a:pPr>
            <a:r>
              <a:rPr lang="en-US" sz="1500" dirty="0">
                <a:solidFill>
                  <a:schemeClr val="tx1">
                    <a:lumMod val="75000"/>
                    <a:lumOff val="25000"/>
                  </a:schemeClr>
                </a:solidFill>
              </a:rPr>
              <a:t> Drones can capture images and videos from people and places, often without their knowledge or consent, leading to privacy violations.</a:t>
            </a:r>
          </a:p>
          <a:p>
            <a:pPr>
              <a:lnSpc>
                <a:spcPct val="90000"/>
              </a:lnSpc>
              <a:buFont typeface="Wingdings 3" charset="2"/>
              <a:buChar char=""/>
            </a:pPr>
            <a:r>
              <a:rPr lang="en-US" sz="1500" dirty="0">
                <a:solidFill>
                  <a:schemeClr val="tx1">
                    <a:lumMod val="75000"/>
                    <a:lumOff val="25000"/>
                  </a:schemeClr>
                </a:solidFill>
              </a:rPr>
              <a:t> Drones give governments and businesses the ability to monitor large populations or specific areas continuously, creating concerns about unchecked surveillance.</a:t>
            </a:r>
          </a:p>
          <a:p>
            <a:pPr>
              <a:lnSpc>
                <a:spcPct val="90000"/>
              </a:lnSpc>
              <a:buFont typeface="Wingdings 3" charset="2"/>
              <a:buChar char=""/>
            </a:pPr>
            <a:r>
              <a:rPr lang="en-US" sz="1500" dirty="0">
                <a:solidFill>
                  <a:schemeClr val="tx1">
                    <a:lumMod val="75000"/>
                    <a:lumOff val="25000"/>
                  </a:schemeClr>
                </a:solidFill>
              </a:rPr>
              <a:t> drones can be used to track political opponents or citizens, making it easier for governments to control or monitor the public.</a:t>
            </a:r>
          </a:p>
        </p:txBody>
      </p:sp>
    </p:spTree>
    <p:extLst>
      <p:ext uri="{BB962C8B-B14F-4D97-AF65-F5344CB8AC3E}">
        <p14:creationId xmlns:p14="http://schemas.microsoft.com/office/powerpoint/2010/main" val="1111260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31" name="Group 1030">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32" name="Rectangle 1031">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3" name="Oval 1032">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4" name="Oval 1033">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5" name="Oval 1034">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6" name="Oval 1035">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7" name="Oval 1036">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8"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039"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040"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042" name="Rectangle 1041">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4585D7C-091D-3F21-FB45-15C25161538D}"/>
              </a:ext>
            </a:extLst>
          </p:cNvPr>
          <p:cNvSpPr>
            <a:spLocks noGrp="1"/>
          </p:cNvSpPr>
          <p:nvPr>
            <p:ph type="ctrTitle"/>
          </p:nvPr>
        </p:nvSpPr>
        <p:spPr>
          <a:xfrm>
            <a:off x="1154954" y="973668"/>
            <a:ext cx="8761413" cy="706964"/>
          </a:xfrm>
        </p:spPr>
        <p:txBody>
          <a:bodyPr vert="horz" lIns="91440" tIns="45720" rIns="91440" bIns="45720" rtlCol="0" anchor="ctr">
            <a:normAutofit/>
          </a:bodyPr>
          <a:lstStyle/>
          <a:p>
            <a:r>
              <a:rPr lang="en-US" sz="3600" b="0" i="0" kern="1200">
                <a:solidFill>
                  <a:srgbClr val="EBEBEB"/>
                </a:solidFill>
                <a:latin typeface="+mj-lt"/>
                <a:ea typeface="+mj-ea"/>
                <a:cs typeface="+mj-cs"/>
              </a:rPr>
              <a:t>Drone Weapons</a:t>
            </a:r>
            <a:endParaRPr lang="en-US" sz="3600" b="0" i="0" kern="1200" dirty="0">
              <a:solidFill>
                <a:srgbClr val="EBEBEB"/>
              </a:solidFill>
              <a:latin typeface="+mj-lt"/>
              <a:ea typeface="+mj-ea"/>
              <a:cs typeface="+mj-cs"/>
            </a:endParaRPr>
          </a:p>
        </p:txBody>
      </p:sp>
      <p:pic>
        <p:nvPicPr>
          <p:cNvPr id="1026" name="Picture 2" descr="An icon-style image for a PowerPoint presentation focused on drone weapons. The design should feature a minimalist drone with weapons attached, placed at the center of a bold red triangular shape. The image should have a clean white background, with the triangle in dark red and the drone in black to create a clear and impactful warning sign. No text or additional elements should be included.">
            <a:extLst>
              <a:ext uri="{FF2B5EF4-FFF2-40B4-BE49-F238E27FC236}">
                <a16:creationId xmlns:a16="http://schemas.microsoft.com/office/drawing/2014/main" id="{553F4AFB-732F-6E43-A7E2-882B7EF3FB4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427" t="12222" r="11582" b="21118"/>
          <a:stretch/>
        </p:blipFill>
        <p:spPr bwMode="auto">
          <a:xfrm>
            <a:off x="1154954" y="2927074"/>
            <a:ext cx="2822654" cy="2412562"/>
          </a:xfrm>
          <a:prstGeom prst="roundRect">
            <a:avLst>
              <a:gd name="adj" fmla="val 8579"/>
            </a:avLst>
          </a:prstGeom>
          <a:noFill/>
          <a:effectLst>
            <a:outerShdw blurRad="50800" dist="50800" dir="54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3" name="Subtitle 2">
            <a:extLst>
              <a:ext uri="{FF2B5EF4-FFF2-40B4-BE49-F238E27FC236}">
                <a16:creationId xmlns:a16="http://schemas.microsoft.com/office/drawing/2014/main" id="{B19FB53B-3C6C-E992-9974-F1D6811E8F0A}"/>
              </a:ext>
            </a:extLst>
          </p:cNvPr>
          <p:cNvSpPr>
            <a:spLocks noGrp="1"/>
          </p:cNvSpPr>
          <p:nvPr>
            <p:ph type="subTitle" idx="1"/>
          </p:nvPr>
        </p:nvSpPr>
        <p:spPr>
          <a:xfrm>
            <a:off x="4641336" y="2603500"/>
            <a:ext cx="6551597" cy="3416300"/>
          </a:xfrm>
        </p:spPr>
        <p:txBody>
          <a:bodyPr vert="horz" lIns="91440" tIns="45720" rIns="91440" bIns="45720" rtlCol="0" anchor="ctr">
            <a:normAutofit/>
          </a:bodyPr>
          <a:lstStyle/>
          <a:p>
            <a:pPr>
              <a:lnSpc>
                <a:spcPct val="90000"/>
              </a:lnSpc>
              <a:buFont typeface="Wingdings 3" charset="2"/>
              <a:buChar char=""/>
            </a:pPr>
            <a:r>
              <a:rPr lang="en-US" sz="1500" dirty="0">
                <a:solidFill>
                  <a:schemeClr val="tx1">
                    <a:lumMod val="75000"/>
                    <a:lumOff val="25000"/>
                  </a:schemeClr>
                </a:solidFill>
              </a:rPr>
              <a:t> Drones used for military strikes can sometimes miss their targets, causing unintended civilian casualties and raising serious ethical questions about their use in conflict zones.</a:t>
            </a:r>
          </a:p>
          <a:p>
            <a:pPr>
              <a:lnSpc>
                <a:spcPct val="90000"/>
              </a:lnSpc>
              <a:buFont typeface="Wingdings 3" charset="2"/>
              <a:buChar char=""/>
            </a:pPr>
            <a:r>
              <a:rPr lang="en-US" sz="1500" dirty="0">
                <a:solidFill>
                  <a:schemeClr val="tx1">
                    <a:lumMod val="75000"/>
                    <a:lumOff val="25000"/>
                  </a:schemeClr>
                </a:solidFill>
              </a:rPr>
              <a:t> The ease of using drones for surveillance or attacks can make it tempting to use them more often, which could worsen tensions or escalate violence</a:t>
            </a:r>
          </a:p>
          <a:p>
            <a:pPr>
              <a:lnSpc>
                <a:spcPct val="90000"/>
              </a:lnSpc>
              <a:buFont typeface="Wingdings 3" charset="2"/>
              <a:buChar char=""/>
            </a:pPr>
            <a:r>
              <a:rPr lang="en-US" sz="1500" dirty="0">
                <a:solidFill>
                  <a:schemeClr val="tx1">
                    <a:lumMod val="75000"/>
                    <a:lumOff val="25000"/>
                  </a:schemeClr>
                </a:solidFill>
              </a:rPr>
              <a:t> When drones are used in military operations, it’s not always clear who is responsible when things go wrong, especially in areas where multiple groups are involved.</a:t>
            </a:r>
          </a:p>
          <a:p>
            <a:pPr>
              <a:lnSpc>
                <a:spcPct val="90000"/>
              </a:lnSpc>
              <a:buFont typeface="Wingdings 3" charset="2"/>
              <a:buChar char=""/>
            </a:pPr>
            <a:r>
              <a:rPr lang="en-US" sz="1500" dirty="0">
                <a:solidFill>
                  <a:schemeClr val="tx1">
                    <a:lumMod val="75000"/>
                    <a:lumOff val="25000"/>
                  </a:schemeClr>
                </a:solidFill>
              </a:rPr>
              <a:t> drones can fall into the hands of actors, who could use them for attacks, making conflict even more dangerous.</a:t>
            </a:r>
          </a:p>
        </p:txBody>
      </p:sp>
    </p:spTree>
    <p:extLst>
      <p:ext uri="{BB962C8B-B14F-4D97-AF65-F5344CB8AC3E}">
        <p14:creationId xmlns:p14="http://schemas.microsoft.com/office/powerpoint/2010/main" val="1400902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6" name="Group 55">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57" name="Rectangle 56">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8" name="Oval 57">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9" name="Oval 58">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0" name="Oval 59">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 name="Oval 60">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2" name="Oval 61">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3"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64"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65"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67" name="Rectangle 66">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4585D7C-091D-3F21-FB45-15C25161538D}"/>
              </a:ext>
            </a:extLst>
          </p:cNvPr>
          <p:cNvSpPr>
            <a:spLocks noGrp="1"/>
          </p:cNvSpPr>
          <p:nvPr>
            <p:ph type="ctrTitle"/>
          </p:nvPr>
        </p:nvSpPr>
        <p:spPr>
          <a:xfrm>
            <a:off x="1154954" y="973668"/>
            <a:ext cx="8761413" cy="706964"/>
          </a:xfrm>
        </p:spPr>
        <p:txBody>
          <a:bodyPr vert="horz" lIns="91440" tIns="45720" rIns="91440" bIns="45720" rtlCol="0" anchor="ctr">
            <a:normAutofit/>
          </a:bodyPr>
          <a:lstStyle/>
          <a:p>
            <a:r>
              <a:rPr lang="en-US" sz="3600" b="0" i="0" kern="1200" dirty="0">
                <a:solidFill>
                  <a:srgbClr val="EBEBEB"/>
                </a:solidFill>
                <a:latin typeface="+mj-lt"/>
                <a:ea typeface="+mj-ea"/>
                <a:cs typeface="+mj-cs"/>
              </a:rPr>
              <a:t>Safety &amp; Congestion</a:t>
            </a:r>
          </a:p>
        </p:txBody>
      </p:sp>
      <p:pic>
        <p:nvPicPr>
          <p:cNvPr id="53" name="Graphic 52" descr="Traffic Light">
            <a:extLst>
              <a:ext uri="{FF2B5EF4-FFF2-40B4-BE49-F238E27FC236}">
                <a16:creationId xmlns:a16="http://schemas.microsoft.com/office/drawing/2014/main" id="{907BAB9F-667F-62CD-AB7E-E9D74EA25BF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1467" y="2793582"/>
            <a:ext cx="3031901" cy="3031901"/>
          </a:xfrm>
          <a:prstGeom prst="roundRect">
            <a:avLst>
              <a:gd name="adj" fmla="val 1858"/>
            </a:avLst>
          </a:prstGeom>
          <a:effectLst>
            <a:outerShdw blurRad="50800" dist="50800" dir="5400000" algn="tl" rotWithShape="0">
              <a:srgbClr val="000000">
                <a:alpha val="43000"/>
              </a:srgbClr>
            </a:outerShdw>
          </a:effectLst>
        </p:spPr>
      </p:pic>
      <p:sp>
        <p:nvSpPr>
          <p:cNvPr id="3" name="Subtitle 2">
            <a:extLst>
              <a:ext uri="{FF2B5EF4-FFF2-40B4-BE49-F238E27FC236}">
                <a16:creationId xmlns:a16="http://schemas.microsoft.com/office/drawing/2014/main" id="{B19FB53B-3C6C-E992-9974-F1D6811E8F0A}"/>
              </a:ext>
            </a:extLst>
          </p:cNvPr>
          <p:cNvSpPr>
            <a:spLocks noGrp="1"/>
          </p:cNvSpPr>
          <p:nvPr>
            <p:ph type="subTitle" idx="1"/>
          </p:nvPr>
        </p:nvSpPr>
        <p:spPr>
          <a:xfrm>
            <a:off x="4641336" y="2603500"/>
            <a:ext cx="6551597" cy="3416300"/>
          </a:xfrm>
        </p:spPr>
        <p:txBody>
          <a:bodyPr vert="horz" lIns="91440" tIns="45720" rIns="91440" bIns="45720" rtlCol="0" anchor="ctr">
            <a:normAutofit/>
          </a:bodyPr>
          <a:lstStyle/>
          <a:p>
            <a:endParaRPr lang="en-US" dirty="0">
              <a:solidFill>
                <a:schemeClr val="tx1">
                  <a:lumMod val="75000"/>
                  <a:lumOff val="25000"/>
                </a:schemeClr>
              </a:solidFill>
            </a:endParaRPr>
          </a:p>
          <a:p>
            <a:pPr>
              <a:buFont typeface="Wingdings 3" charset="2"/>
              <a:buChar char=""/>
            </a:pPr>
            <a:r>
              <a:rPr lang="en-US" dirty="0">
                <a:solidFill>
                  <a:schemeClr val="tx1">
                    <a:lumMod val="75000"/>
                    <a:lumOff val="25000"/>
                  </a:schemeClr>
                </a:solidFill>
              </a:rPr>
              <a:t> Drones can crash or malfunction, causing mid-air collisions or accidents, especially in crowded areas or near airports, which poses a big safety risk</a:t>
            </a:r>
          </a:p>
          <a:p>
            <a:pPr>
              <a:buFont typeface="Wingdings 3" charset="2"/>
              <a:buChar char=""/>
            </a:pPr>
            <a:endParaRPr lang="en-US" dirty="0">
              <a:solidFill>
                <a:schemeClr val="tx1">
                  <a:lumMod val="75000"/>
                  <a:lumOff val="25000"/>
                </a:schemeClr>
              </a:solidFill>
            </a:endParaRPr>
          </a:p>
          <a:p>
            <a:pPr>
              <a:buFont typeface="Wingdings 3" charset="2"/>
              <a:buChar char=""/>
            </a:pPr>
            <a:r>
              <a:rPr lang="en-US" dirty="0">
                <a:solidFill>
                  <a:schemeClr val="tx1">
                    <a:lumMod val="75000"/>
                    <a:lumOff val="25000"/>
                  </a:schemeClr>
                </a:solidFill>
              </a:rPr>
              <a:t> drones used for things like agriculture or disaster relief could accidentally fly into populated areas, potentially injuring people on the ground.</a:t>
            </a:r>
          </a:p>
          <a:p>
            <a:pPr>
              <a:buFont typeface="Wingdings 3" charset="2"/>
              <a:buChar char=""/>
            </a:pPr>
            <a:endParaRPr lang="en-US" dirty="0">
              <a:solidFill>
                <a:schemeClr val="tx1">
                  <a:lumMod val="75000"/>
                  <a:lumOff val="25000"/>
                </a:schemeClr>
              </a:solidFill>
            </a:endParaRPr>
          </a:p>
        </p:txBody>
      </p:sp>
    </p:spTree>
    <p:extLst>
      <p:ext uri="{BB962C8B-B14F-4D97-AF65-F5344CB8AC3E}">
        <p14:creationId xmlns:p14="http://schemas.microsoft.com/office/powerpoint/2010/main" val="2994370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6" name="Group 55">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57" name="Rectangle 56">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8" name="Oval 57">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9" name="Oval 58">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0" name="Oval 59">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 name="Oval 60">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2" name="Oval 61">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3"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64"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65"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67" name="Rectangle 66">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4585D7C-091D-3F21-FB45-15C25161538D}"/>
              </a:ext>
            </a:extLst>
          </p:cNvPr>
          <p:cNvSpPr>
            <a:spLocks noGrp="1"/>
          </p:cNvSpPr>
          <p:nvPr>
            <p:ph type="ctrTitle"/>
          </p:nvPr>
        </p:nvSpPr>
        <p:spPr>
          <a:xfrm>
            <a:off x="1154954" y="973668"/>
            <a:ext cx="8761413" cy="706964"/>
          </a:xfrm>
        </p:spPr>
        <p:txBody>
          <a:bodyPr vert="horz" lIns="91440" tIns="45720" rIns="91440" bIns="45720" rtlCol="0" anchor="ctr">
            <a:normAutofit/>
          </a:bodyPr>
          <a:lstStyle/>
          <a:p>
            <a:r>
              <a:rPr lang="en-US" sz="3600" b="0" i="0" kern="1200" dirty="0">
                <a:solidFill>
                  <a:srgbClr val="EBEBEB"/>
                </a:solidFill>
                <a:latin typeface="+mj-lt"/>
                <a:ea typeface="+mj-ea"/>
                <a:cs typeface="+mj-cs"/>
              </a:rPr>
              <a:t>Widening Income Inequality</a:t>
            </a:r>
          </a:p>
        </p:txBody>
      </p:sp>
      <p:pic>
        <p:nvPicPr>
          <p:cNvPr id="53" name="Graphic 52" descr="Money">
            <a:extLst>
              <a:ext uri="{FF2B5EF4-FFF2-40B4-BE49-F238E27FC236}">
                <a16:creationId xmlns:a16="http://schemas.microsoft.com/office/drawing/2014/main" id="{ED277B6E-09DF-6185-19F2-826C13A70AC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51467" y="2793582"/>
            <a:ext cx="3031901" cy="3031901"/>
          </a:xfrm>
          <a:prstGeom prst="roundRect">
            <a:avLst>
              <a:gd name="adj" fmla="val 1858"/>
            </a:avLst>
          </a:prstGeom>
          <a:effectLst>
            <a:outerShdw blurRad="50800" dist="50800" dir="5400000" algn="tl" rotWithShape="0">
              <a:srgbClr val="000000">
                <a:alpha val="43000"/>
              </a:srgbClr>
            </a:outerShdw>
          </a:effectLst>
        </p:spPr>
      </p:pic>
      <p:sp>
        <p:nvSpPr>
          <p:cNvPr id="3" name="Subtitle 2">
            <a:extLst>
              <a:ext uri="{FF2B5EF4-FFF2-40B4-BE49-F238E27FC236}">
                <a16:creationId xmlns:a16="http://schemas.microsoft.com/office/drawing/2014/main" id="{B19FB53B-3C6C-E992-9974-F1D6811E8F0A}"/>
              </a:ext>
            </a:extLst>
          </p:cNvPr>
          <p:cNvSpPr>
            <a:spLocks noGrp="1"/>
          </p:cNvSpPr>
          <p:nvPr>
            <p:ph type="subTitle" idx="1"/>
          </p:nvPr>
        </p:nvSpPr>
        <p:spPr>
          <a:xfrm>
            <a:off x="4641336" y="2603500"/>
            <a:ext cx="6551597" cy="3416300"/>
          </a:xfrm>
        </p:spPr>
        <p:txBody>
          <a:bodyPr vert="horz" lIns="91440" tIns="45720" rIns="91440" bIns="45720" rtlCol="0" anchor="ctr">
            <a:normAutofit/>
          </a:bodyPr>
          <a:lstStyle/>
          <a:p>
            <a:pPr>
              <a:lnSpc>
                <a:spcPct val="90000"/>
              </a:lnSpc>
            </a:pPr>
            <a:endParaRPr lang="en-US" dirty="0">
              <a:solidFill>
                <a:schemeClr val="tx1">
                  <a:lumMod val="75000"/>
                  <a:lumOff val="25000"/>
                </a:schemeClr>
              </a:solidFill>
            </a:endParaRPr>
          </a:p>
          <a:p>
            <a:pPr>
              <a:lnSpc>
                <a:spcPct val="90000"/>
              </a:lnSpc>
              <a:buFont typeface="Wingdings 3" charset="2"/>
              <a:buChar char=""/>
            </a:pPr>
            <a:r>
              <a:rPr lang="en-US" dirty="0">
                <a:solidFill>
                  <a:schemeClr val="tx1">
                    <a:lumMod val="75000"/>
                    <a:lumOff val="25000"/>
                  </a:schemeClr>
                </a:solidFill>
              </a:rPr>
              <a:t> drones often benefit urban areas and wealthier groups, leaving rural or remote communities without access due to high costs and lack of infrastructure.</a:t>
            </a:r>
          </a:p>
          <a:p>
            <a:pPr>
              <a:lnSpc>
                <a:spcPct val="90000"/>
              </a:lnSpc>
              <a:buFont typeface="Wingdings 3" charset="2"/>
              <a:buChar char=""/>
            </a:pPr>
            <a:endParaRPr lang="en-US" dirty="0">
              <a:solidFill>
                <a:schemeClr val="tx1">
                  <a:lumMod val="75000"/>
                  <a:lumOff val="25000"/>
                </a:schemeClr>
              </a:solidFill>
            </a:endParaRPr>
          </a:p>
          <a:p>
            <a:pPr>
              <a:lnSpc>
                <a:spcPct val="90000"/>
              </a:lnSpc>
              <a:buFont typeface="Wingdings 3" charset="2"/>
              <a:buChar char=""/>
            </a:pPr>
            <a:r>
              <a:rPr lang="en-US" dirty="0">
                <a:solidFill>
                  <a:schemeClr val="tx1">
                    <a:lumMod val="75000"/>
                    <a:lumOff val="25000"/>
                  </a:schemeClr>
                </a:solidFill>
              </a:rPr>
              <a:t> Drones could improve agriculture, healthcare, and disaster relief, but smaller farmers or underserved communities may not see these benefits, as they can't afford the technology or don't have the technical know-how.</a:t>
            </a:r>
          </a:p>
        </p:txBody>
      </p:sp>
    </p:spTree>
    <p:extLst>
      <p:ext uri="{BB962C8B-B14F-4D97-AF65-F5344CB8AC3E}">
        <p14:creationId xmlns:p14="http://schemas.microsoft.com/office/powerpoint/2010/main" val="3274599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56" name="Group 55">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57" name="Rectangle 56">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8" name="Oval 57">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9" name="Oval 58">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0" name="Oval 59">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1" name="Oval 60">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2" name="Oval 61">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3"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64"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65"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67" name="Rectangle 66">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4585D7C-091D-3F21-FB45-15C25161538D}"/>
              </a:ext>
            </a:extLst>
          </p:cNvPr>
          <p:cNvSpPr>
            <a:spLocks noGrp="1"/>
          </p:cNvSpPr>
          <p:nvPr>
            <p:ph type="ctrTitle"/>
          </p:nvPr>
        </p:nvSpPr>
        <p:spPr>
          <a:xfrm>
            <a:off x="1154954" y="973668"/>
            <a:ext cx="8761413" cy="706964"/>
          </a:xfrm>
        </p:spPr>
        <p:txBody>
          <a:bodyPr vert="horz" lIns="91440" tIns="45720" rIns="91440" bIns="45720" rtlCol="0" anchor="ctr">
            <a:normAutofit/>
          </a:bodyPr>
          <a:lstStyle/>
          <a:p>
            <a:r>
              <a:rPr lang="en-US" sz="3600" b="0" i="0" kern="1200" dirty="0">
                <a:solidFill>
                  <a:srgbClr val="EBEBEB"/>
                </a:solidFill>
                <a:latin typeface="+mj-lt"/>
                <a:ea typeface="+mj-ea"/>
                <a:cs typeface="+mj-cs"/>
              </a:rPr>
              <a:t>Authorities studying drone use ethics</a:t>
            </a:r>
          </a:p>
        </p:txBody>
      </p:sp>
      <p:pic>
        <p:nvPicPr>
          <p:cNvPr id="53" name="Graphic 52" descr="Education">
            <a:extLst>
              <a:ext uri="{FF2B5EF4-FFF2-40B4-BE49-F238E27FC236}">
                <a16:creationId xmlns:a16="http://schemas.microsoft.com/office/drawing/2014/main" id="{44C509CA-1A67-BDDB-F473-A06399C0D58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1467" y="2793582"/>
            <a:ext cx="3031901" cy="3031901"/>
          </a:xfrm>
          <a:prstGeom prst="roundRect">
            <a:avLst>
              <a:gd name="adj" fmla="val 1858"/>
            </a:avLst>
          </a:prstGeom>
          <a:effectLst>
            <a:outerShdw blurRad="50800" dist="50800" dir="5400000" algn="tl" rotWithShape="0">
              <a:srgbClr val="000000">
                <a:alpha val="43000"/>
              </a:srgbClr>
            </a:outerShdw>
          </a:effectLst>
        </p:spPr>
      </p:pic>
      <p:sp>
        <p:nvSpPr>
          <p:cNvPr id="3" name="Subtitle 2">
            <a:extLst>
              <a:ext uri="{FF2B5EF4-FFF2-40B4-BE49-F238E27FC236}">
                <a16:creationId xmlns:a16="http://schemas.microsoft.com/office/drawing/2014/main" id="{B19FB53B-3C6C-E992-9974-F1D6811E8F0A}"/>
              </a:ext>
            </a:extLst>
          </p:cNvPr>
          <p:cNvSpPr>
            <a:spLocks noGrp="1"/>
          </p:cNvSpPr>
          <p:nvPr>
            <p:ph type="subTitle" idx="1"/>
          </p:nvPr>
        </p:nvSpPr>
        <p:spPr>
          <a:xfrm>
            <a:off x="4641336" y="2603500"/>
            <a:ext cx="6551597" cy="3416300"/>
          </a:xfrm>
        </p:spPr>
        <p:txBody>
          <a:bodyPr vert="horz" lIns="91440" tIns="45720" rIns="91440" bIns="45720" rtlCol="0" anchor="ctr">
            <a:normAutofit/>
          </a:bodyPr>
          <a:lstStyle/>
          <a:p>
            <a:pPr>
              <a:lnSpc>
                <a:spcPct val="90000"/>
              </a:lnSpc>
              <a:buFont typeface="Wingdings 3" charset="2"/>
              <a:buChar char=""/>
            </a:pPr>
            <a:r>
              <a:rPr lang="en-US" sz="1100" dirty="0">
                <a:solidFill>
                  <a:schemeClr val="tx1">
                    <a:lumMod val="75000"/>
                    <a:lumOff val="25000"/>
                  </a:schemeClr>
                </a:solidFill>
              </a:rPr>
              <a:t> African Union Commission. (2020). Drone technology in Africa: Opportunities and challenges. Addis Ababa: African Union.  </a:t>
            </a:r>
            <a:r>
              <a:rPr lang="en-US" sz="1100" dirty="0">
                <a:solidFill>
                  <a:schemeClr val="tx1">
                    <a:lumMod val="75000"/>
                    <a:lumOff val="25000"/>
                  </a:schemeClr>
                </a:solidFill>
                <a:hlinkClick r:id="rId6"/>
              </a:rPr>
              <a:t>https://au.int/</a:t>
            </a:r>
            <a:endParaRPr lang="en-US" sz="1100" dirty="0">
              <a:solidFill>
                <a:schemeClr val="tx1">
                  <a:lumMod val="75000"/>
                  <a:lumOff val="25000"/>
                </a:schemeClr>
              </a:solidFill>
            </a:endParaRPr>
          </a:p>
          <a:p>
            <a:pPr>
              <a:lnSpc>
                <a:spcPct val="90000"/>
              </a:lnSpc>
              <a:buFont typeface="Wingdings 3" charset="2"/>
              <a:buChar char=""/>
            </a:pPr>
            <a:endParaRPr lang="en-US" sz="1100" dirty="0">
              <a:solidFill>
                <a:schemeClr val="tx1">
                  <a:lumMod val="75000"/>
                  <a:lumOff val="25000"/>
                </a:schemeClr>
              </a:solidFill>
            </a:endParaRPr>
          </a:p>
          <a:p>
            <a:pPr>
              <a:lnSpc>
                <a:spcPct val="90000"/>
              </a:lnSpc>
              <a:buFont typeface="Wingdings 3" charset="2"/>
              <a:buChar char=""/>
            </a:pPr>
            <a:r>
              <a:rPr lang="en-US" sz="1100" dirty="0">
                <a:solidFill>
                  <a:schemeClr val="tx1">
                    <a:lumMod val="75000"/>
                    <a:lumOff val="25000"/>
                  </a:schemeClr>
                </a:solidFill>
              </a:rPr>
              <a:t>Centre for Internet &amp; Society. (2019). The ethical implications of drones in India’s surveillance operations. Bengaluru: Centre for Internet &amp; Society. </a:t>
            </a:r>
            <a:r>
              <a:rPr lang="en-US" sz="1100" dirty="0">
                <a:solidFill>
                  <a:schemeClr val="tx1">
                    <a:lumMod val="75000"/>
                    <a:lumOff val="25000"/>
                  </a:schemeClr>
                </a:solidFill>
                <a:hlinkClick r:id="rId7"/>
              </a:rPr>
              <a:t>https://cis-india.org/</a:t>
            </a:r>
            <a:endParaRPr lang="en-US" sz="1100" dirty="0">
              <a:solidFill>
                <a:schemeClr val="tx1">
                  <a:lumMod val="75000"/>
                  <a:lumOff val="25000"/>
                </a:schemeClr>
              </a:solidFill>
            </a:endParaRPr>
          </a:p>
          <a:p>
            <a:pPr>
              <a:lnSpc>
                <a:spcPct val="90000"/>
              </a:lnSpc>
              <a:buFont typeface="Wingdings 3" charset="2"/>
              <a:buChar char=""/>
            </a:pPr>
            <a:endParaRPr lang="en-US" sz="1100" dirty="0">
              <a:solidFill>
                <a:schemeClr val="tx1">
                  <a:lumMod val="75000"/>
                  <a:lumOff val="25000"/>
                </a:schemeClr>
              </a:solidFill>
            </a:endParaRPr>
          </a:p>
          <a:p>
            <a:pPr>
              <a:lnSpc>
                <a:spcPct val="90000"/>
              </a:lnSpc>
              <a:buFont typeface="Wingdings 3" charset="2"/>
              <a:buChar char=""/>
            </a:pPr>
            <a:r>
              <a:rPr lang="en-US" sz="1100" dirty="0">
                <a:solidFill>
                  <a:schemeClr val="tx1">
                    <a:lumMod val="75000"/>
                    <a:lumOff val="25000"/>
                  </a:schemeClr>
                </a:solidFill>
              </a:rPr>
              <a:t>Council for Scientific and Industrial Research. (2021). Drones in Africa: Balancing innovation and ethics. Pretoria: CSIR. </a:t>
            </a:r>
            <a:r>
              <a:rPr lang="en-US" sz="1100" dirty="0">
                <a:solidFill>
                  <a:schemeClr val="tx1">
                    <a:lumMod val="75000"/>
                    <a:lumOff val="25000"/>
                  </a:schemeClr>
                </a:solidFill>
                <a:hlinkClick r:id="rId8"/>
              </a:rPr>
              <a:t>https://www.csir.co.za/</a:t>
            </a:r>
            <a:endParaRPr lang="en-US" sz="1100" dirty="0">
              <a:solidFill>
                <a:schemeClr val="tx1">
                  <a:lumMod val="75000"/>
                  <a:lumOff val="25000"/>
                </a:schemeClr>
              </a:solidFill>
            </a:endParaRPr>
          </a:p>
          <a:p>
            <a:pPr>
              <a:lnSpc>
                <a:spcPct val="90000"/>
              </a:lnSpc>
              <a:buFont typeface="Wingdings 3" charset="2"/>
              <a:buChar char=""/>
            </a:pPr>
            <a:endParaRPr lang="en-US" sz="1100" dirty="0">
              <a:solidFill>
                <a:schemeClr val="tx1">
                  <a:lumMod val="75000"/>
                  <a:lumOff val="25000"/>
                </a:schemeClr>
              </a:solidFill>
            </a:endParaRPr>
          </a:p>
          <a:p>
            <a:pPr>
              <a:lnSpc>
                <a:spcPct val="90000"/>
              </a:lnSpc>
              <a:buFont typeface="Wingdings 3" charset="2"/>
              <a:buChar char=""/>
            </a:pPr>
            <a:r>
              <a:rPr lang="en-US" sz="1100" dirty="0">
                <a:solidFill>
                  <a:schemeClr val="tx1">
                    <a:lumMod val="75000"/>
                    <a:lumOff val="25000"/>
                  </a:schemeClr>
                </a:solidFill>
              </a:rPr>
              <a:t>Kenya Civil Aviation Authority. (2022). Ethical and regulatory considerations for unmanned aerial vehicles in Kenya. Nairobi: KCAA. https://</a:t>
            </a:r>
            <a:r>
              <a:rPr lang="en-US" sz="1100" dirty="0" err="1">
                <a:solidFill>
                  <a:schemeClr val="tx1">
                    <a:lumMod val="75000"/>
                    <a:lumOff val="25000"/>
                  </a:schemeClr>
                </a:solidFill>
              </a:rPr>
              <a:t>www.kcaa.or.ke</a:t>
            </a:r>
            <a:r>
              <a:rPr lang="en-US" sz="1100" dirty="0">
                <a:solidFill>
                  <a:schemeClr val="tx1">
                    <a:lumMod val="75000"/>
                    <a:lumOff val="25000"/>
                  </a:schemeClr>
                </a:solidFill>
              </a:rPr>
              <a:t>/</a:t>
            </a:r>
          </a:p>
        </p:txBody>
      </p:sp>
    </p:spTree>
    <p:extLst>
      <p:ext uri="{BB962C8B-B14F-4D97-AF65-F5344CB8AC3E}">
        <p14:creationId xmlns:p14="http://schemas.microsoft.com/office/powerpoint/2010/main" val="2099545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4" name="Rectangle 23">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5"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US"/>
            </a:p>
          </p:txBody>
        </p:sp>
      </p:grpSp>
      <p:sp>
        <p:nvSpPr>
          <p:cNvPr id="2" name="Title 1">
            <a:extLst>
              <a:ext uri="{FF2B5EF4-FFF2-40B4-BE49-F238E27FC236}">
                <a16:creationId xmlns:a16="http://schemas.microsoft.com/office/drawing/2014/main" id="{27E7AC91-9508-C82B-A91D-918760DBEA24}"/>
              </a:ext>
            </a:extLst>
          </p:cNvPr>
          <p:cNvSpPr>
            <a:spLocks noGrp="1"/>
          </p:cNvSpPr>
          <p:nvPr>
            <p:ph type="title"/>
          </p:nvPr>
        </p:nvSpPr>
        <p:spPr>
          <a:xfrm>
            <a:off x="1154954" y="973668"/>
            <a:ext cx="8761413" cy="706964"/>
          </a:xfrm>
        </p:spPr>
        <p:txBody>
          <a:bodyPr>
            <a:normAutofit/>
          </a:bodyPr>
          <a:lstStyle/>
          <a:p>
            <a:r>
              <a:rPr lang="en-US">
                <a:solidFill>
                  <a:srgbClr val="FFFFFF"/>
                </a:solidFill>
              </a:rPr>
              <a:t>CONCLUSION AND CALL TO ACTION</a:t>
            </a:r>
          </a:p>
        </p:txBody>
      </p:sp>
      <p:sp>
        <p:nvSpPr>
          <p:cNvPr id="27" name="Rectangle 26">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7" name="Content Placeholder 2">
            <a:extLst>
              <a:ext uri="{FF2B5EF4-FFF2-40B4-BE49-F238E27FC236}">
                <a16:creationId xmlns:a16="http://schemas.microsoft.com/office/drawing/2014/main" id="{0AC99C71-6CCF-CA92-947F-6EF7FA1948E5}"/>
              </a:ext>
            </a:extLst>
          </p:cNvPr>
          <p:cNvGraphicFramePr>
            <a:graphicFrameLocks noGrp="1"/>
          </p:cNvGraphicFramePr>
          <p:nvPr>
            <p:ph idx="1"/>
            <p:extLst>
              <p:ext uri="{D42A27DB-BD31-4B8C-83A1-F6EECF244321}">
                <p14:modId xmlns:p14="http://schemas.microsoft.com/office/powerpoint/2010/main" val="4202711014"/>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46506229"/>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9EA2611-DCBA-4E97-A2B2-9A466E76B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dk2"/>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BBC615D1-6E12-40EF-915B-316CFDB550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14" name="Freeform 5">
            <a:extLst>
              <a:ext uri="{FF2B5EF4-FFF2-40B4-BE49-F238E27FC236}">
                <a16:creationId xmlns:a16="http://schemas.microsoft.com/office/drawing/2014/main" id="{B9797D36-DE1E-47CD-881A-6C1F582826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537676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
        <p:nvSpPr>
          <p:cNvPr id="2" name="Title 1">
            <a:extLst>
              <a:ext uri="{FF2B5EF4-FFF2-40B4-BE49-F238E27FC236}">
                <a16:creationId xmlns:a16="http://schemas.microsoft.com/office/drawing/2014/main" id="{FE4B4763-3CA9-10F8-7FFD-EC4855EA75C6}"/>
              </a:ext>
            </a:extLst>
          </p:cNvPr>
          <p:cNvSpPr>
            <a:spLocks noGrp="1"/>
          </p:cNvSpPr>
          <p:nvPr>
            <p:ph type="title"/>
          </p:nvPr>
        </p:nvSpPr>
        <p:spPr>
          <a:xfrm>
            <a:off x="639098" y="629265"/>
            <a:ext cx="6072776" cy="1622322"/>
          </a:xfrm>
        </p:spPr>
        <p:txBody>
          <a:bodyPr>
            <a:normAutofit/>
          </a:bodyPr>
          <a:lstStyle/>
          <a:p>
            <a:r>
              <a:rPr lang="en-US" cap="all" dirty="0">
                <a:solidFill>
                  <a:schemeClr val="accent1">
                    <a:lumMod val="60000"/>
                    <a:lumOff val="40000"/>
                  </a:schemeClr>
                </a:solidFill>
              </a:rPr>
              <a:t>References</a:t>
            </a:r>
          </a:p>
        </p:txBody>
      </p:sp>
      <p:pic>
        <p:nvPicPr>
          <p:cNvPr id="5" name="Picture 4" descr="Abstract blurred public library with bookshelves">
            <a:extLst>
              <a:ext uri="{FF2B5EF4-FFF2-40B4-BE49-F238E27FC236}">
                <a16:creationId xmlns:a16="http://schemas.microsoft.com/office/drawing/2014/main" id="{FA986EB2-F96D-6100-6FBB-0043612329D2}"/>
              </a:ext>
            </a:extLst>
          </p:cNvPr>
          <p:cNvPicPr>
            <a:picLocks noChangeAspect="1"/>
          </p:cNvPicPr>
          <p:nvPr/>
        </p:nvPicPr>
        <p:blipFill>
          <a:blip r:embed="rId2"/>
          <a:srcRect l="11328" r="32877" b="-2"/>
          <a:stretch/>
        </p:blipFill>
        <p:spPr>
          <a:xfrm>
            <a:off x="6774511" y="480060"/>
            <a:ext cx="4929808" cy="5897880"/>
          </a:xfrm>
          <a:custGeom>
            <a:avLst/>
            <a:gdLst/>
            <a:ahLst/>
            <a:cxnLst/>
            <a:rect l="l" t="t" r="r" b="b"/>
            <a:pathLst>
              <a:path w="4929808" h="5897880">
                <a:moveTo>
                  <a:pt x="104535" y="0"/>
                </a:moveTo>
                <a:lnTo>
                  <a:pt x="2751151" y="0"/>
                </a:lnTo>
                <a:lnTo>
                  <a:pt x="4769032" y="0"/>
                </a:lnTo>
                <a:lnTo>
                  <a:pt x="4929808" y="0"/>
                </a:lnTo>
                <a:lnTo>
                  <a:pt x="4929808" y="5897880"/>
                </a:lnTo>
                <a:lnTo>
                  <a:pt x="4769032" y="5897880"/>
                </a:lnTo>
                <a:lnTo>
                  <a:pt x="2751151" y="5897880"/>
                </a:lnTo>
                <a:lnTo>
                  <a:pt x="0" y="5897880"/>
                </a:lnTo>
                <a:lnTo>
                  <a:pt x="0" y="5896985"/>
                </a:lnTo>
                <a:lnTo>
                  <a:pt x="103291" y="5896985"/>
                </a:lnTo>
                <a:lnTo>
                  <a:pt x="112340" y="5838313"/>
                </a:lnTo>
                <a:lnTo>
                  <a:pt x="123631" y="5762037"/>
                </a:lnTo>
                <a:lnTo>
                  <a:pt x="135550" y="5671232"/>
                </a:lnTo>
                <a:lnTo>
                  <a:pt x="149820" y="5563476"/>
                </a:lnTo>
                <a:lnTo>
                  <a:pt x="164875" y="5444219"/>
                </a:lnTo>
                <a:lnTo>
                  <a:pt x="180714" y="5309828"/>
                </a:lnTo>
                <a:lnTo>
                  <a:pt x="197494" y="5163329"/>
                </a:lnTo>
                <a:lnTo>
                  <a:pt x="214273" y="5004117"/>
                </a:lnTo>
                <a:lnTo>
                  <a:pt x="231367" y="4834615"/>
                </a:lnTo>
                <a:lnTo>
                  <a:pt x="247205" y="4651794"/>
                </a:lnTo>
                <a:lnTo>
                  <a:pt x="262417" y="4460498"/>
                </a:lnTo>
                <a:lnTo>
                  <a:pt x="276217" y="4258305"/>
                </a:lnTo>
                <a:lnTo>
                  <a:pt x="289390" y="4047637"/>
                </a:lnTo>
                <a:lnTo>
                  <a:pt x="301779" y="3827889"/>
                </a:lnTo>
                <a:lnTo>
                  <a:pt x="306170" y="3715291"/>
                </a:lnTo>
                <a:lnTo>
                  <a:pt x="311031" y="3600271"/>
                </a:lnTo>
                <a:lnTo>
                  <a:pt x="315579" y="3483435"/>
                </a:lnTo>
                <a:lnTo>
                  <a:pt x="318558" y="3365994"/>
                </a:lnTo>
                <a:lnTo>
                  <a:pt x="321224" y="3246131"/>
                </a:lnTo>
                <a:lnTo>
                  <a:pt x="324047" y="3125058"/>
                </a:lnTo>
                <a:lnTo>
                  <a:pt x="325929" y="3001563"/>
                </a:lnTo>
                <a:lnTo>
                  <a:pt x="325929" y="2876858"/>
                </a:lnTo>
                <a:lnTo>
                  <a:pt x="326870" y="2750941"/>
                </a:lnTo>
                <a:lnTo>
                  <a:pt x="325929" y="2623814"/>
                </a:lnTo>
                <a:lnTo>
                  <a:pt x="324047" y="2494871"/>
                </a:lnTo>
                <a:lnTo>
                  <a:pt x="322322" y="2365928"/>
                </a:lnTo>
                <a:lnTo>
                  <a:pt x="318558" y="2235169"/>
                </a:lnTo>
                <a:lnTo>
                  <a:pt x="314638" y="2103199"/>
                </a:lnTo>
                <a:lnTo>
                  <a:pt x="310090" y="1971229"/>
                </a:lnTo>
                <a:lnTo>
                  <a:pt x="303660" y="1838048"/>
                </a:lnTo>
                <a:lnTo>
                  <a:pt x="295976" y="1703656"/>
                </a:lnTo>
                <a:lnTo>
                  <a:pt x="288606" y="1568660"/>
                </a:lnTo>
                <a:lnTo>
                  <a:pt x="279197" y="1433663"/>
                </a:lnTo>
                <a:lnTo>
                  <a:pt x="267906" y="1296850"/>
                </a:lnTo>
                <a:lnTo>
                  <a:pt x="256615" y="1161853"/>
                </a:lnTo>
                <a:lnTo>
                  <a:pt x="243598" y="1024435"/>
                </a:lnTo>
                <a:lnTo>
                  <a:pt x="229328" y="886411"/>
                </a:lnTo>
                <a:lnTo>
                  <a:pt x="214273" y="750203"/>
                </a:lnTo>
                <a:lnTo>
                  <a:pt x="196709" y="612180"/>
                </a:lnTo>
                <a:lnTo>
                  <a:pt x="177891" y="474761"/>
                </a:lnTo>
                <a:lnTo>
                  <a:pt x="159229" y="336738"/>
                </a:lnTo>
                <a:lnTo>
                  <a:pt x="137432" y="199320"/>
                </a:lnTo>
                <a:lnTo>
                  <a:pt x="115163" y="62507"/>
                </a:lnTo>
                <a:close/>
              </a:path>
            </a:pathLst>
          </a:custGeom>
        </p:spPr>
      </p:pic>
      <p:sp>
        <p:nvSpPr>
          <p:cNvPr id="16" name="Rectangle 15">
            <a:extLst>
              <a:ext uri="{FF2B5EF4-FFF2-40B4-BE49-F238E27FC236}">
                <a16:creationId xmlns:a16="http://schemas.microsoft.com/office/drawing/2014/main" id="{4A2FAF1F-F462-46AF-A9E6-CC93C4E2C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a:extLst>
              <a:ext uri="{FF2B5EF4-FFF2-40B4-BE49-F238E27FC236}">
                <a16:creationId xmlns:a16="http://schemas.microsoft.com/office/drawing/2014/main" id="{7146BED8-BAE9-42C5-A3DD-7B946445D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a:extLst>
              <a:ext uri="{FF2B5EF4-FFF2-40B4-BE49-F238E27FC236}">
                <a16:creationId xmlns:a16="http://schemas.microsoft.com/office/drawing/2014/main" id="{15765FE8-B62F-41E4-A73C-74C91A8FD9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B7629B3E-07D8-1EC9-C55F-B02EA18C88A2}"/>
              </a:ext>
            </a:extLst>
          </p:cNvPr>
          <p:cNvSpPr>
            <a:spLocks noGrp="1"/>
          </p:cNvSpPr>
          <p:nvPr>
            <p:ph idx="1"/>
          </p:nvPr>
        </p:nvSpPr>
        <p:spPr>
          <a:xfrm>
            <a:off x="639098" y="2418735"/>
            <a:ext cx="6072776" cy="3811740"/>
          </a:xfrm>
        </p:spPr>
        <p:txBody>
          <a:bodyPr anchor="ctr">
            <a:normAutofit/>
          </a:bodyPr>
          <a:lstStyle/>
          <a:p>
            <a:pPr>
              <a:lnSpc>
                <a:spcPct val="90000"/>
              </a:lnSpc>
              <a:buFont typeface="Arial" panose="020B0604020202020204" pitchFamily="34" charset="0"/>
              <a:buChar char="•"/>
            </a:pPr>
            <a:r>
              <a:rPr lang="en-US" b="0" i="0" u="none" strike="noStrike">
                <a:solidFill>
                  <a:srgbClr val="FFFFFF"/>
                </a:solidFill>
                <a:effectLst/>
                <a:latin typeface="CiscoSans"/>
              </a:rPr>
              <a:t>Cahill, B., &amp; Banks, J. (2014). The challenges and opportunities of integrating unmanned aircraft into the national airspace system. </a:t>
            </a:r>
            <a:r>
              <a:rPr lang="en-US" b="0" i="1" u="none" strike="noStrike">
                <a:solidFill>
                  <a:srgbClr val="FFFFFF"/>
                </a:solidFill>
                <a:effectLst/>
                <a:latin typeface="CiscoSans"/>
              </a:rPr>
              <a:t>IEEE Technology and Society Magazine, 33</a:t>
            </a:r>
            <a:r>
              <a:rPr lang="en-US" b="0" i="0" u="none" strike="noStrike">
                <a:solidFill>
                  <a:srgbClr val="FFFFFF"/>
                </a:solidFill>
                <a:effectLst/>
                <a:latin typeface="CiscoSans"/>
              </a:rPr>
              <a:t>(3), 28-34.</a:t>
            </a:r>
          </a:p>
          <a:p>
            <a:pPr>
              <a:lnSpc>
                <a:spcPct val="90000"/>
              </a:lnSpc>
              <a:buFont typeface="Arial" panose="020B0604020202020204" pitchFamily="34" charset="0"/>
              <a:buChar char="•"/>
            </a:pPr>
            <a:r>
              <a:rPr lang="en-US" b="0" i="0" u="none" strike="noStrike">
                <a:solidFill>
                  <a:srgbClr val="FFFFFF"/>
                </a:solidFill>
                <a:effectLst/>
                <a:latin typeface="CiscoSans"/>
              </a:rPr>
              <a:t>Clarke, R. (2014). Understanding the drone epidemic. </a:t>
            </a:r>
            <a:r>
              <a:rPr lang="en-US" b="0" i="1" u="none" strike="noStrike">
                <a:solidFill>
                  <a:srgbClr val="FFFFFF"/>
                </a:solidFill>
                <a:effectLst/>
                <a:latin typeface="CiscoSans"/>
              </a:rPr>
              <a:t>Computer Law &amp; Security Review, 30</a:t>
            </a:r>
            <a:r>
              <a:rPr lang="en-US" b="0" i="0" u="none" strike="noStrike">
                <a:solidFill>
                  <a:srgbClr val="FFFFFF"/>
                </a:solidFill>
                <a:effectLst/>
                <a:latin typeface="CiscoSans"/>
              </a:rPr>
              <a:t>(3), 230-246.</a:t>
            </a:r>
          </a:p>
          <a:p>
            <a:pPr>
              <a:lnSpc>
                <a:spcPct val="90000"/>
              </a:lnSpc>
              <a:buFont typeface="Arial" panose="020B0604020202020204" pitchFamily="34" charset="0"/>
              <a:buChar char="•"/>
            </a:pPr>
            <a:r>
              <a:rPr lang="en-US" b="0" i="0" u="none" strike="noStrike">
                <a:solidFill>
                  <a:srgbClr val="FFFFFF"/>
                </a:solidFill>
                <a:effectLst/>
                <a:latin typeface="CiscoSans"/>
              </a:rPr>
              <a:t>Finn, R. L., &amp; Wright, D. (2012). Unmanned aircraft systems: Surveillance, ethics, and privacy in civil applications. </a:t>
            </a:r>
            <a:r>
              <a:rPr lang="en-US" b="0" i="1" u="none" strike="noStrike">
                <a:solidFill>
                  <a:srgbClr val="FFFFFF"/>
                </a:solidFill>
                <a:effectLst/>
                <a:latin typeface="CiscoSans"/>
              </a:rPr>
              <a:t>Computer Law &amp; Security Review, 28</a:t>
            </a:r>
            <a:r>
              <a:rPr lang="en-US" b="0" i="0" u="none" strike="noStrike">
                <a:solidFill>
                  <a:srgbClr val="FFFFFF"/>
                </a:solidFill>
                <a:effectLst/>
                <a:latin typeface="CiscoSans"/>
              </a:rPr>
              <a:t>(2), 184-194.</a:t>
            </a:r>
          </a:p>
          <a:p>
            <a:pPr>
              <a:lnSpc>
                <a:spcPct val="90000"/>
              </a:lnSpc>
              <a:buFont typeface="Arial" panose="020B0604020202020204" pitchFamily="34" charset="0"/>
              <a:buChar char="•"/>
            </a:pPr>
            <a:r>
              <a:rPr lang="en-US" b="0" i="0" u="none" strike="noStrike">
                <a:solidFill>
                  <a:srgbClr val="FFFFFF"/>
                </a:solidFill>
                <a:effectLst/>
                <a:latin typeface="CiscoSans"/>
              </a:rPr>
              <a:t>Strawser, B. J. (2010). Moral predators: The duty to employ uninhabited aerial vehicles. </a:t>
            </a:r>
            <a:r>
              <a:rPr lang="en-US" b="0" i="1" u="none" strike="noStrike">
                <a:solidFill>
                  <a:srgbClr val="FFFFFF"/>
                </a:solidFill>
                <a:effectLst/>
                <a:latin typeface="CiscoSans"/>
              </a:rPr>
              <a:t>Journal of Military Ethics, 9</a:t>
            </a:r>
            <a:r>
              <a:rPr lang="en-US" b="0" i="0" u="none" strike="noStrike">
                <a:solidFill>
                  <a:srgbClr val="FFFFFF"/>
                </a:solidFill>
                <a:effectLst/>
                <a:latin typeface="CiscoSans"/>
              </a:rPr>
              <a:t>(4), 342-368.</a:t>
            </a:r>
          </a:p>
          <a:p>
            <a:pPr>
              <a:lnSpc>
                <a:spcPct val="90000"/>
              </a:lnSpc>
            </a:pPr>
            <a:endParaRPr lang="en-US">
              <a:solidFill>
                <a:srgbClr val="FFFFFF"/>
              </a:solidFill>
            </a:endParaRPr>
          </a:p>
        </p:txBody>
      </p:sp>
    </p:spTree>
    <p:extLst>
      <p:ext uri="{BB962C8B-B14F-4D97-AF65-F5344CB8AC3E}">
        <p14:creationId xmlns:p14="http://schemas.microsoft.com/office/powerpoint/2010/main" val="3684257022"/>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19FB53B-3C6C-E992-9974-F1D6811E8F0A}"/>
              </a:ext>
            </a:extLst>
          </p:cNvPr>
          <p:cNvSpPr>
            <a:spLocks noGrp="1"/>
          </p:cNvSpPr>
          <p:nvPr>
            <p:ph type="subTitle" idx="1"/>
          </p:nvPr>
        </p:nvSpPr>
        <p:spPr>
          <a:xfrm>
            <a:off x="1046098" y="1130665"/>
            <a:ext cx="10536302" cy="4987106"/>
          </a:xfrm>
        </p:spPr>
        <p:txBody>
          <a:bodyPr>
            <a:normAutofit lnSpcReduction="10000"/>
          </a:bodyPr>
          <a:lstStyle/>
          <a:p>
            <a:endParaRPr lang="en-US" sz="4000" dirty="0"/>
          </a:p>
          <a:p>
            <a:endParaRPr lang="en-US" sz="4000" dirty="0"/>
          </a:p>
          <a:p>
            <a:endParaRPr lang="en-US" sz="4000" dirty="0"/>
          </a:p>
          <a:p>
            <a:endParaRPr lang="en-US" sz="4000" dirty="0"/>
          </a:p>
          <a:p>
            <a:endParaRPr lang="en-US" sz="4000" dirty="0"/>
          </a:p>
          <a:p>
            <a:endParaRPr lang="en-US" sz="4000" dirty="0"/>
          </a:p>
          <a:p>
            <a:r>
              <a:rPr lang="en-US" sz="4000" dirty="0"/>
              <a:t>END</a:t>
            </a:r>
          </a:p>
        </p:txBody>
      </p:sp>
    </p:spTree>
    <p:extLst>
      <p:ext uri="{BB962C8B-B14F-4D97-AF65-F5344CB8AC3E}">
        <p14:creationId xmlns:p14="http://schemas.microsoft.com/office/powerpoint/2010/main" val="23653030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40</TotalTime>
  <Words>663</Words>
  <Application>Microsoft Macintosh PowerPoint</Application>
  <PresentationFormat>Widescreen</PresentationFormat>
  <Paragraphs>59</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Arial</vt:lpstr>
      <vt:lpstr>Calibri</vt:lpstr>
      <vt:lpstr>Century Gothic</vt:lpstr>
      <vt:lpstr>CiscoSans</vt:lpstr>
      <vt:lpstr>Wingdings 3</vt:lpstr>
      <vt:lpstr>Ion Boardroom</vt:lpstr>
      <vt:lpstr>PowerPoint Presentation</vt:lpstr>
      <vt:lpstr>NEED FOR ETHICS IN DRONE TECHNOLOGIES</vt:lpstr>
      <vt:lpstr>PowerPoint Presentation</vt:lpstr>
      <vt:lpstr>Privacy</vt:lpstr>
      <vt:lpstr>Drone Weapons</vt:lpstr>
      <vt:lpstr>Safety &amp; Congestion</vt:lpstr>
      <vt:lpstr>Widening Income Inequality</vt:lpstr>
      <vt:lpstr>Authorities studying drone use ethics</vt:lpstr>
      <vt:lpstr>CONCLUSION AND CALL TO ACTION</vt:lpstr>
      <vt:lpstr>References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Tripti</dc:creator>
  <cp:keywords/>
  <dc:description/>
  <cp:lastModifiedBy>Tripti Vishwakarma</cp:lastModifiedBy>
  <cp:revision>3</cp:revision>
  <dcterms:created xsi:type="dcterms:W3CDTF">2024-10-10T01:47:23Z</dcterms:created>
  <dcterms:modified xsi:type="dcterms:W3CDTF">2024-10-10T06:23:48Z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8f49a32-fde3-48a5-9266-b5b0972a22dc_Enabled">
    <vt:lpwstr>true</vt:lpwstr>
  </property>
  <property fmtid="{D5CDD505-2E9C-101B-9397-08002B2CF9AE}" pid="3" name="MSIP_Label_c8f49a32-fde3-48a5-9266-b5b0972a22dc_SetDate">
    <vt:lpwstr>2024-10-10T05:40:17Z</vt:lpwstr>
  </property>
  <property fmtid="{D5CDD505-2E9C-101B-9397-08002B2CF9AE}" pid="4" name="MSIP_Label_c8f49a32-fde3-48a5-9266-b5b0972a22dc_Method">
    <vt:lpwstr>Standard</vt:lpwstr>
  </property>
  <property fmtid="{D5CDD505-2E9C-101B-9397-08002B2CF9AE}" pid="5" name="MSIP_Label_c8f49a32-fde3-48a5-9266-b5b0972a22dc_Name">
    <vt:lpwstr>Cisco Confidential</vt:lpwstr>
  </property>
  <property fmtid="{D5CDD505-2E9C-101B-9397-08002B2CF9AE}" pid="6" name="MSIP_Label_c8f49a32-fde3-48a5-9266-b5b0972a22dc_SiteId">
    <vt:lpwstr>5ae1af62-9505-4097-a69a-c1553ef7840e</vt:lpwstr>
  </property>
  <property fmtid="{D5CDD505-2E9C-101B-9397-08002B2CF9AE}" pid="7" name="MSIP_Label_c8f49a32-fde3-48a5-9266-b5b0972a22dc_ActionId">
    <vt:lpwstr>fceb9bee-b2b8-4c9a-b9ff-ff3c0c19e26d</vt:lpwstr>
  </property>
  <property fmtid="{D5CDD505-2E9C-101B-9397-08002B2CF9AE}" pid="8" name="MSIP_Label_c8f49a32-fde3-48a5-9266-b5b0972a22dc_ContentBits">
    <vt:lpwstr>2</vt:lpwstr>
  </property>
  <property fmtid="{D5CDD505-2E9C-101B-9397-08002B2CF9AE}" pid="9" name="ClassificationContentMarkingFooterLocations">
    <vt:lpwstr>Ion Boardroom:10</vt:lpwstr>
  </property>
  <property fmtid="{D5CDD505-2E9C-101B-9397-08002B2CF9AE}" pid="10" name="ClassificationContentMarkingFooterText">
    <vt:lpwstr>Cisco Confidential</vt:lpwstr>
  </property>
</Properties>
</file>